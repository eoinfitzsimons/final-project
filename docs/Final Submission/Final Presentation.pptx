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72"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68765" autoAdjust="0"/>
  </p:normalViewPr>
  <p:slideViewPr>
    <p:cSldViewPr snapToGrid="0">
      <p:cViewPr varScale="1">
        <p:scale>
          <a:sx n="160" d="100"/>
          <a:sy n="160" d="100"/>
        </p:scale>
        <p:origin x="450"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CB03D36-A9DE-402D-A158-12296C15D298}" type="doc">
      <dgm:prSet loTypeId="urn:microsoft.com/office/officeart/2005/8/layout/vList2" loCatId="list" qsTypeId="urn:microsoft.com/office/officeart/2005/8/quickstyle/simple1" qsCatId="simple" csTypeId="urn:microsoft.com/office/officeart/2005/8/colors/accent0_1" csCatId="mainScheme"/>
      <dgm:spPr/>
      <dgm:t>
        <a:bodyPr/>
        <a:lstStyle/>
        <a:p>
          <a:endParaRPr lang="en-IE"/>
        </a:p>
      </dgm:t>
    </dgm:pt>
    <dgm:pt modelId="{4E9DE855-69A9-44C4-B05B-664D94B06C17}">
      <dgm:prSet/>
      <dgm:spPr/>
      <dgm:t>
        <a:bodyPr/>
        <a:lstStyle/>
        <a:p>
          <a:r>
            <a:rPr lang="en-GB" dirty="0"/>
            <a:t>Career Mode</a:t>
          </a:r>
          <a:endParaRPr lang="en-IE" dirty="0"/>
        </a:p>
      </dgm:t>
    </dgm:pt>
    <dgm:pt modelId="{AED5B4D2-B8F0-4258-BDAB-EB5608E6C785}" type="parTrans" cxnId="{BCEF71A5-82D4-4D47-BE00-9043DA91DDD5}">
      <dgm:prSet/>
      <dgm:spPr/>
      <dgm:t>
        <a:bodyPr/>
        <a:lstStyle/>
        <a:p>
          <a:endParaRPr lang="en-IE"/>
        </a:p>
      </dgm:t>
    </dgm:pt>
    <dgm:pt modelId="{551A5BB0-6E2D-4EB9-8D29-404A15420F57}" type="sibTrans" cxnId="{BCEF71A5-82D4-4D47-BE00-9043DA91DDD5}">
      <dgm:prSet/>
      <dgm:spPr/>
      <dgm:t>
        <a:bodyPr/>
        <a:lstStyle/>
        <a:p>
          <a:endParaRPr lang="en-IE"/>
        </a:p>
      </dgm:t>
    </dgm:pt>
    <dgm:pt modelId="{3F9B130B-C547-4C80-A6CC-9B1C9AEE2380}">
      <dgm:prSet/>
      <dgm:spPr/>
      <dgm:t>
        <a:bodyPr/>
        <a:lstStyle/>
        <a:p>
          <a:r>
            <a:rPr lang="en-GB"/>
            <a:t>Team management</a:t>
          </a:r>
          <a:endParaRPr lang="en-IE"/>
        </a:p>
      </dgm:t>
    </dgm:pt>
    <dgm:pt modelId="{CD7B7D6F-1AD1-4007-8F61-E440E987F496}" type="parTrans" cxnId="{31AF1A63-385D-4567-ACF1-E5F5EEC9EAA3}">
      <dgm:prSet/>
      <dgm:spPr/>
      <dgm:t>
        <a:bodyPr/>
        <a:lstStyle/>
        <a:p>
          <a:endParaRPr lang="en-IE"/>
        </a:p>
      </dgm:t>
    </dgm:pt>
    <dgm:pt modelId="{8C8FF4B9-2A3F-4524-BDE6-5139F30A4004}" type="sibTrans" cxnId="{31AF1A63-385D-4567-ACF1-E5F5EEC9EAA3}">
      <dgm:prSet/>
      <dgm:spPr/>
      <dgm:t>
        <a:bodyPr/>
        <a:lstStyle/>
        <a:p>
          <a:endParaRPr lang="en-IE"/>
        </a:p>
      </dgm:t>
    </dgm:pt>
    <dgm:pt modelId="{6A67DE45-C894-4FD6-BEE0-684E3C37CE2D}">
      <dgm:prSet/>
      <dgm:spPr/>
      <dgm:t>
        <a:bodyPr/>
        <a:lstStyle/>
        <a:p>
          <a:r>
            <a:rPr lang="en-GB"/>
            <a:t>Development</a:t>
          </a:r>
          <a:endParaRPr lang="en-IE"/>
        </a:p>
      </dgm:t>
    </dgm:pt>
    <dgm:pt modelId="{E7891F3B-D42A-4895-96B2-0CBDA3D259C3}" type="parTrans" cxnId="{C3A515F4-BB0C-4B13-83A9-C387319EC584}">
      <dgm:prSet/>
      <dgm:spPr/>
      <dgm:t>
        <a:bodyPr/>
        <a:lstStyle/>
        <a:p>
          <a:endParaRPr lang="en-IE"/>
        </a:p>
      </dgm:t>
    </dgm:pt>
    <dgm:pt modelId="{A0DEC8C7-4AD1-4BFA-86C5-4656C2EB24FD}" type="sibTrans" cxnId="{C3A515F4-BB0C-4B13-83A9-C387319EC584}">
      <dgm:prSet/>
      <dgm:spPr/>
      <dgm:t>
        <a:bodyPr/>
        <a:lstStyle/>
        <a:p>
          <a:endParaRPr lang="en-IE"/>
        </a:p>
      </dgm:t>
    </dgm:pt>
    <dgm:pt modelId="{FAF0DE5D-BC31-4575-A70B-04A8D537A1D6}">
      <dgm:prSet/>
      <dgm:spPr/>
      <dgm:t>
        <a:bodyPr/>
        <a:lstStyle/>
        <a:p>
          <a:r>
            <a:rPr lang="en-GB"/>
            <a:t>Multi-Discipline</a:t>
          </a:r>
          <a:endParaRPr lang="en-IE"/>
        </a:p>
      </dgm:t>
    </dgm:pt>
    <dgm:pt modelId="{5779F311-292A-45E4-BEA3-A85567393F7D}" type="parTrans" cxnId="{8B065440-FAAB-4F7B-B61E-24D5079F2210}">
      <dgm:prSet/>
      <dgm:spPr/>
      <dgm:t>
        <a:bodyPr/>
        <a:lstStyle/>
        <a:p>
          <a:endParaRPr lang="en-IE"/>
        </a:p>
      </dgm:t>
    </dgm:pt>
    <dgm:pt modelId="{0C87DFCC-45C1-4924-8239-02619D1F0D2D}" type="sibTrans" cxnId="{8B065440-FAAB-4F7B-B61E-24D5079F2210}">
      <dgm:prSet/>
      <dgm:spPr/>
      <dgm:t>
        <a:bodyPr/>
        <a:lstStyle/>
        <a:p>
          <a:endParaRPr lang="en-IE"/>
        </a:p>
      </dgm:t>
    </dgm:pt>
    <dgm:pt modelId="{09D55EE9-FE13-48FC-A074-BA8FC76637BE}" type="pres">
      <dgm:prSet presAssocID="{DCB03D36-A9DE-402D-A158-12296C15D298}" presName="linear" presStyleCnt="0">
        <dgm:presLayoutVars>
          <dgm:animLvl val="lvl"/>
          <dgm:resizeHandles val="exact"/>
        </dgm:presLayoutVars>
      </dgm:prSet>
      <dgm:spPr/>
    </dgm:pt>
    <dgm:pt modelId="{BDF4E8B2-70A5-4908-B17C-75050E665B7C}" type="pres">
      <dgm:prSet presAssocID="{4E9DE855-69A9-44C4-B05B-664D94B06C17}" presName="parentText" presStyleLbl="node1" presStyleIdx="0" presStyleCnt="4">
        <dgm:presLayoutVars>
          <dgm:chMax val="0"/>
          <dgm:bulletEnabled val="1"/>
        </dgm:presLayoutVars>
      </dgm:prSet>
      <dgm:spPr/>
    </dgm:pt>
    <dgm:pt modelId="{298C1D82-DF4F-4672-9565-6A022D2EE6BE}" type="pres">
      <dgm:prSet presAssocID="{551A5BB0-6E2D-4EB9-8D29-404A15420F57}" presName="spacer" presStyleCnt="0"/>
      <dgm:spPr/>
    </dgm:pt>
    <dgm:pt modelId="{AD323179-25AE-45BB-B5EA-9E5F83CE27C5}" type="pres">
      <dgm:prSet presAssocID="{3F9B130B-C547-4C80-A6CC-9B1C9AEE2380}" presName="parentText" presStyleLbl="node1" presStyleIdx="1" presStyleCnt="4">
        <dgm:presLayoutVars>
          <dgm:chMax val="0"/>
          <dgm:bulletEnabled val="1"/>
        </dgm:presLayoutVars>
      </dgm:prSet>
      <dgm:spPr/>
    </dgm:pt>
    <dgm:pt modelId="{ACC02CCC-A383-467A-8703-E010B0E0548E}" type="pres">
      <dgm:prSet presAssocID="{8C8FF4B9-2A3F-4524-BDE6-5139F30A4004}" presName="spacer" presStyleCnt="0"/>
      <dgm:spPr/>
    </dgm:pt>
    <dgm:pt modelId="{6748A944-93DB-4775-B9C0-E2F4874AE86A}" type="pres">
      <dgm:prSet presAssocID="{6A67DE45-C894-4FD6-BEE0-684E3C37CE2D}" presName="parentText" presStyleLbl="node1" presStyleIdx="2" presStyleCnt="4">
        <dgm:presLayoutVars>
          <dgm:chMax val="0"/>
          <dgm:bulletEnabled val="1"/>
        </dgm:presLayoutVars>
      </dgm:prSet>
      <dgm:spPr/>
    </dgm:pt>
    <dgm:pt modelId="{C384C281-38AA-4545-997A-BAC2D97B131B}" type="pres">
      <dgm:prSet presAssocID="{A0DEC8C7-4AD1-4BFA-86C5-4656C2EB24FD}" presName="spacer" presStyleCnt="0"/>
      <dgm:spPr/>
    </dgm:pt>
    <dgm:pt modelId="{D689B279-CEAD-40DC-B82A-1C580BE1AA9D}" type="pres">
      <dgm:prSet presAssocID="{FAF0DE5D-BC31-4575-A70B-04A8D537A1D6}" presName="parentText" presStyleLbl="node1" presStyleIdx="3" presStyleCnt="4">
        <dgm:presLayoutVars>
          <dgm:chMax val="0"/>
          <dgm:bulletEnabled val="1"/>
        </dgm:presLayoutVars>
      </dgm:prSet>
      <dgm:spPr/>
    </dgm:pt>
  </dgm:ptLst>
  <dgm:cxnLst>
    <dgm:cxn modelId="{4561DE02-17B3-4893-B3A4-1B7A881E2A62}" type="presOf" srcId="{6A67DE45-C894-4FD6-BEE0-684E3C37CE2D}" destId="{6748A944-93DB-4775-B9C0-E2F4874AE86A}" srcOrd="0" destOrd="0" presId="urn:microsoft.com/office/officeart/2005/8/layout/vList2"/>
    <dgm:cxn modelId="{23346218-0365-499F-BAE7-FF646C39A56D}" type="presOf" srcId="{3F9B130B-C547-4C80-A6CC-9B1C9AEE2380}" destId="{AD323179-25AE-45BB-B5EA-9E5F83CE27C5}" srcOrd="0" destOrd="0" presId="urn:microsoft.com/office/officeart/2005/8/layout/vList2"/>
    <dgm:cxn modelId="{8B065440-FAAB-4F7B-B61E-24D5079F2210}" srcId="{DCB03D36-A9DE-402D-A158-12296C15D298}" destId="{FAF0DE5D-BC31-4575-A70B-04A8D537A1D6}" srcOrd="3" destOrd="0" parTransId="{5779F311-292A-45E4-BEA3-A85567393F7D}" sibTransId="{0C87DFCC-45C1-4924-8239-02619D1F0D2D}"/>
    <dgm:cxn modelId="{31AF1A63-385D-4567-ACF1-E5F5EEC9EAA3}" srcId="{DCB03D36-A9DE-402D-A158-12296C15D298}" destId="{3F9B130B-C547-4C80-A6CC-9B1C9AEE2380}" srcOrd="1" destOrd="0" parTransId="{CD7B7D6F-1AD1-4007-8F61-E440E987F496}" sibTransId="{8C8FF4B9-2A3F-4524-BDE6-5139F30A4004}"/>
    <dgm:cxn modelId="{DC1F6159-3E9D-4D9D-AEC3-A876FC401649}" type="presOf" srcId="{DCB03D36-A9DE-402D-A158-12296C15D298}" destId="{09D55EE9-FE13-48FC-A074-BA8FC76637BE}" srcOrd="0" destOrd="0" presId="urn:microsoft.com/office/officeart/2005/8/layout/vList2"/>
    <dgm:cxn modelId="{B8857A7D-F2F5-4595-BCD7-6170A4EC620F}" type="presOf" srcId="{4E9DE855-69A9-44C4-B05B-664D94B06C17}" destId="{BDF4E8B2-70A5-4908-B17C-75050E665B7C}" srcOrd="0" destOrd="0" presId="urn:microsoft.com/office/officeart/2005/8/layout/vList2"/>
    <dgm:cxn modelId="{BCEF71A5-82D4-4D47-BE00-9043DA91DDD5}" srcId="{DCB03D36-A9DE-402D-A158-12296C15D298}" destId="{4E9DE855-69A9-44C4-B05B-664D94B06C17}" srcOrd="0" destOrd="0" parTransId="{AED5B4D2-B8F0-4258-BDAB-EB5608E6C785}" sibTransId="{551A5BB0-6E2D-4EB9-8D29-404A15420F57}"/>
    <dgm:cxn modelId="{DD2E58BC-352D-4D8B-8A2F-BE90C3749E73}" type="presOf" srcId="{FAF0DE5D-BC31-4575-A70B-04A8D537A1D6}" destId="{D689B279-CEAD-40DC-B82A-1C580BE1AA9D}" srcOrd="0" destOrd="0" presId="urn:microsoft.com/office/officeart/2005/8/layout/vList2"/>
    <dgm:cxn modelId="{C3A515F4-BB0C-4B13-83A9-C387319EC584}" srcId="{DCB03D36-A9DE-402D-A158-12296C15D298}" destId="{6A67DE45-C894-4FD6-BEE0-684E3C37CE2D}" srcOrd="2" destOrd="0" parTransId="{E7891F3B-D42A-4895-96B2-0CBDA3D259C3}" sibTransId="{A0DEC8C7-4AD1-4BFA-86C5-4656C2EB24FD}"/>
    <dgm:cxn modelId="{9CA103B3-EA89-4363-B4EB-5CCBFAD1707E}" type="presParOf" srcId="{09D55EE9-FE13-48FC-A074-BA8FC76637BE}" destId="{BDF4E8B2-70A5-4908-B17C-75050E665B7C}" srcOrd="0" destOrd="0" presId="urn:microsoft.com/office/officeart/2005/8/layout/vList2"/>
    <dgm:cxn modelId="{FDDA15CC-7CD8-4CD4-BE42-45E448A3397F}" type="presParOf" srcId="{09D55EE9-FE13-48FC-A074-BA8FC76637BE}" destId="{298C1D82-DF4F-4672-9565-6A022D2EE6BE}" srcOrd="1" destOrd="0" presId="urn:microsoft.com/office/officeart/2005/8/layout/vList2"/>
    <dgm:cxn modelId="{FE65FFFF-1E24-4293-B37B-20E97CFC367F}" type="presParOf" srcId="{09D55EE9-FE13-48FC-A074-BA8FC76637BE}" destId="{AD323179-25AE-45BB-B5EA-9E5F83CE27C5}" srcOrd="2" destOrd="0" presId="urn:microsoft.com/office/officeart/2005/8/layout/vList2"/>
    <dgm:cxn modelId="{DB11FE31-7D7B-41CB-889E-A3BB9CB76A50}" type="presParOf" srcId="{09D55EE9-FE13-48FC-A074-BA8FC76637BE}" destId="{ACC02CCC-A383-467A-8703-E010B0E0548E}" srcOrd="3" destOrd="0" presId="urn:microsoft.com/office/officeart/2005/8/layout/vList2"/>
    <dgm:cxn modelId="{64013FB9-EA3E-4964-94DB-26E6B1D5E1CA}" type="presParOf" srcId="{09D55EE9-FE13-48FC-A074-BA8FC76637BE}" destId="{6748A944-93DB-4775-B9C0-E2F4874AE86A}" srcOrd="4" destOrd="0" presId="urn:microsoft.com/office/officeart/2005/8/layout/vList2"/>
    <dgm:cxn modelId="{3CD11E1E-D947-4DFF-99D8-4D7F66B685A6}" type="presParOf" srcId="{09D55EE9-FE13-48FC-A074-BA8FC76637BE}" destId="{C384C281-38AA-4545-997A-BAC2D97B131B}" srcOrd="5" destOrd="0" presId="urn:microsoft.com/office/officeart/2005/8/layout/vList2"/>
    <dgm:cxn modelId="{38B98D44-B498-4189-A498-10DFA677EBCF}" type="presParOf" srcId="{09D55EE9-FE13-48FC-A074-BA8FC76637BE}" destId="{D689B279-CEAD-40DC-B82A-1C580BE1AA9D}"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F4E8B2-70A5-4908-B17C-75050E665B7C}">
      <dsp:nvSpPr>
        <dsp:cNvPr id="0" name=""/>
        <dsp:cNvSpPr/>
      </dsp:nvSpPr>
      <dsp:spPr>
        <a:xfrm>
          <a:off x="0" y="88154"/>
          <a:ext cx="3932237" cy="835380"/>
        </a:xfrm>
        <a:prstGeom prst="roundRect">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GB" sz="3400" kern="1200" dirty="0"/>
            <a:t>Career Mode</a:t>
          </a:r>
          <a:endParaRPr lang="en-IE" sz="3400" kern="1200" dirty="0"/>
        </a:p>
      </dsp:txBody>
      <dsp:txXfrm>
        <a:off x="40780" y="128934"/>
        <a:ext cx="3850677" cy="753820"/>
      </dsp:txXfrm>
    </dsp:sp>
    <dsp:sp modelId="{AD323179-25AE-45BB-B5EA-9E5F83CE27C5}">
      <dsp:nvSpPr>
        <dsp:cNvPr id="0" name=""/>
        <dsp:cNvSpPr/>
      </dsp:nvSpPr>
      <dsp:spPr>
        <a:xfrm>
          <a:off x="0" y="1021454"/>
          <a:ext cx="3932237" cy="835380"/>
        </a:xfrm>
        <a:prstGeom prst="roundRect">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GB" sz="3400" kern="1200"/>
            <a:t>Team management</a:t>
          </a:r>
          <a:endParaRPr lang="en-IE" sz="3400" kern="1200"/>
        </a:p>
      </dsp:txBody>
      <dsp:txXfrm>
        <a:off x="40780" y="1062234"/>
        <a:ext cx="3850677" cy="753820"/>
      </dsp:txXfrm>
    </dsp:sp>
    <dsp:sp modelId="{6748A944-93DB-4775-B9C0-E2F4874AE86A}">
      <dsp:nvSpPr>
        <dsp:cNvPr id="0" name=""/>
        <dsp:cNvSpPr/>
      </dsp:nvSpPr>
      <dsp:spPr>
        <a:xfrm>
          <a:off x="0" y="1954754"/>
          <a:ext cx="3932237" cy="835380"/>
        </a:xfrm>
        <a:prstGeom prst="roundRect">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GB" sz="3400" kern="1200"/>
            <a:t>Development</a:t>
          </a:r>
          <a:endParaRPr lang="en-IE" sz="3400" kern="1200"/>
        </a:p>
      </dsp:txBody>
      <dsp:txXfrm>
        <a:off x="40780" y="1995534"/>
        <a:ext cx="3850677" cy="753820"/>
      </dsp:txXfrm>
    </dsp:sp>
    <dsp:sp modelId="{D689B279-CEAD-40DC-B82A-1C580BE1AA9D}">
      <dsp:nvSpPr>
        <dsp:cNvPr id="0" name=""/>
        <dsp:cNvSpPr/>
      </dsp:nvSpPr>
      <dsp:spPr>
        <a:xfrm>
          <a:off x="0" y="2888054"/>
          <a:ext cx="3932237" cy="835380"/>
        </a:xfrm>
        <a:prstGeom prst="roundRect">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GB" sz="3400" kern="1200"/>
            <a:t>Multi-Discipline</a:t>
          </a:r>
          <a:endParaRPr lang="en-IE" sz="3400" kern="1200"/>
        </a:p>
      </dsp:txBody>
      <dsp:txXfrm>
        <a:off x="40780" y="2928834"/>
        <a:ext cx="3850677" cy="75382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3EA0DD-752A-4738-B3DB-B4E0E0FEBB26}" type="datetimeFigureOut">
              <a:rPr lang="en-IE" smtClean="0"/>
              <a:t>01/08/2026</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39C384-FEF2-4015-9B8A-9427217FDE2D}" type="slidenum">
              <a:rPr lang="en-IE" smtClean="0"/>
              <a:t>‹#›</a:t>
            </a:fld>
            <a:endParaRPr lang="en-IE"/>
          </a:p>
        </p:txBody>
      </p:sp>
    </p:spTree>
    <p:extLst>
      <p:ext uri="{BB962C8B-B14F-4D97-AF65-F5344CB8AC3E}">
        <p14:creationId xmlns:p14="http://schemas.microsoft.com/office/powerpoint/2010/main" val="26281331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a:p>
        </p:txBody>
      </p:sp>
      <p:sp>
        <p:nvSpPr>
          <p:cNvPr id="3" name="Notes Placeholder 2"/>
          <p:cNvSpPr>
            <a:spLocks noGrp="1"/>
          </p:cNvSpPr>
          <p:nvPr>
            <p:ph type="body" idx="1"/>
          </p:nvPr>
        </p:nvSpPr>
        <p:spPr/>
        <p:txBody>
          <a:bodyPr/>
          <a:lstStyle/>
          <a:p>
            <a:r>
              <a:rPr lang="en-IE" sz="1200" b="0" i="0" kern="1200" dirty="0">
                <a:solidFill>
                  <a:schemeClr val="tx1"/>
                </a:solidFill>
                <a:effectLst/>
                <a:latin typeface="+mn-lt"/>
                <a:ea typeface="+mn-ea"/>
                <a:cs typeface="+mn-cs"/>
              </a:rPr>
              <a:t>Hello, I’m Eoin Fitzsimons, a lifelong motorsport and sports‑simulation fan. This is Momentum, it is a multi‑discipline motorsport management simulator that aims to deliver deep management systems across multiple racing formats while also providing a real time racing system.</a:t>
            </a:r>
          </a:p>
          <a:p>
            <a:endParaRPr lang="en-IE" sz="1200" b="0" i="0" kern="1200" dirty="0">
              <a:solidFill>
                <a:schemeClr val="tx1"/>
              </a:solidFill>
              <a:effectLst/>
              <a:latin typeface="+mn-lt"/>
              <a:ea typeface="+mn-ea"/>
              <a:cs typeface="+mn-cs"/>
            </a:endParaRPr>
          </a:p>
          <a:p>
            <a:r>
              <a:rPr lang="en-IE" sz="1200" b="0" i="0" kern="1200" dirty="0">
                <a:solidFill>
                  <a:schemeClr val="tx1"/>
                </a:solidFill>
                <a:effectLst/>
                <a:latin typeface="+mn-lt"/>
                <a:ea typeface="+mn-ea"/>
                <a:cs typeface="+mn-cs"/>
              </a:rPr>
              <a:t>Who is it for?</a:t>
            </a:r>
            <a:endParaRPr lang="en-IE" dirty="0"/>
          </a:p>
        </p:txBody>
      </p:sp>
      <p:sp>
        <p:nvSpPr>
          <p:cNvPr id="4" name="Slide Number Placeholder 3"/>
          <p:cNvSpPr>
            <a:spLocks noGrp="1"/>
          </p:cNvSpPr>
          <p:nvPr>
            <p:ph type="sldNum" sz="quarter" idx="5"/>
          </p:nvPr>
        </p:nvSpPr>
        <p:spPr/>
        <p:txBody>
          <a:bodyPr/>
          <a:lstStyle/>
          <a:p>
            <a:fld id="{C439C384-FEF2-4015-9B8A-9427217FDE2D}" type="slidenum">
              <a:rPr lang="en-IE" smtClean="0"/>
              <a:t>1</a:t>
            </a:fld>
            <a:endParaRPr lang="en-IE"/>
          </a:p>
        </p:txBody>
      </p:sp>
    </p:spTree>
    <p:extLst>
      <p:ext uri="{BB962C8B-B14F-4D97-AF65-F5344CB8AC3E}">
        <p14:creationId xmlns:p14="http://schemas.microsoft.com/office/powerpoint/2010/main" val="29434441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a:p>
        </p:txBody>
      </p:sp>
      <p:sp>
        <p:nvSpPr>
          <p:cNvPr id="3" name="Notes Placeholder 2"/>
          <p:cNvSpPr>
            <a:spLocks noGrp="1"/>
          </p:cNvSpPr>
          <p:nvPr>
            <p:ph type="body" idx="1"/>
          </p:nvPr>
        </p:nvSpPr>
        <p:spPr/>
        <p:txBody>
          <a:bodyPr/>
          <a:lstStyle/>
          <a:p>
            <a:r>
              <a:rPr lang="en-GB" dirty="0"/>
              <a:t>Motorsport management games are niche and often single‑discipline or shallow in simulation. Inspired by modding work on car‑centric titles and by low‑fi, vehicle‑focused play, the project aims are broader coverage across disciplines, depth in management systems (contracts, staff, budgets, vehicle setup), and practical deliverability in a single repository with lightweight dependencies.</a:t>
            </a:r>
          </a:p>
          <a:p>
            <a:endParaRPr lang="en-GB" dirty="0"/>
          </a:p>
          <a:p>
            <a:r>
              <a:rPr lang="en-GB" dirty="0"/>
              <a:t>I found that these other games were much too simple when it came to what their driver attributes were, but it was a struggle to produce my own without redundancy, I had over 50 related to driving alone while both MM and F1 had 12. This made the diagrams hard to read</a:t>
            </a:r>
            <a:r>
              <a:rPr lang="en-IE" dirty="0"/>
              <a:t>.</a:t>
            </a:r>
            <a:endParaRPr lang="en-GB" dirty="0"/>
          </a:p>
        </p:txBody>
      </p:sp>
      <p:sp>
        <p:nvSpPr>
          <p:cNvPr id="4" name="Slide Number Placeholder 3"/>
          <p:cNvSpPr>
            <a:spLocks noGrp="1"/>
          </p:cNvSpPr>
          <p:nvPr>
            <p:ph type="sldNum" sz="quarter" idx="5"/>
          </p:nvPr>
        </p:nvSpPr>
        <p:spPr/>
        <p:txBody>
          <a:bodyPr/>
          <a:lstStyle/>
          <a:p>
            <a:fld id="{C439C384-FEF2-4015-9B8A-9427217FDE2D}" type="slidenum">
              <a:rPr lang="en-IE" smtClean="0"/>
              <a:t>2</a:t>
            </a:fld>
            <a:endParaRPr lang="en-IE"/>
          </a:p>
        </p:txBody>
      </p:sp>
    </p:spTree>
    <p:extLst>
      <p:ext uri="{BB962C8B-B14F-4D97-AF65-F5344CB8AC3E}">
        <p14:creationId xmlns:p14="http://schemas.microsoft.com/office/powerpoint/2010/main" val="12147718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a:p>
        </p:txBody>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The MVP concentrates on a demonstrable quick‑race, telemetry capture for tuning, a compact driver model, and output debugging that collect metrics such as DNFs and lap‑time volatility. Monte Carlo simulation was used earlier as an approach as it allowed for many lightning quick simulations that could then feed the best results out, but I felt there was not enough in race control.</a:t>
            </a:r>
          </a:p>
          <a:p>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The stack is Python 3.13 with FastAPI, SQLite, NumPy/pandas/SciPy and a PyQt6 GUI to balance rapid development and local distribution. Key challenges identified were data integrity, demo fragility, and performance trade‑offs, I documented conceptual diagrams and alternative solutions and used them to prioritise automated import/verification, seeded tests, and targeted optimisation.</a:t>
            </a:r>
          </a:p>
          <a:p>
            <a:endParaRPr lang="en-GB" sz="1200" b="0" i="0" kern="1200" dirty="0">
              <a:solidFill>
                <a:schemeClr val="tx1"/>
              </a:solidFill>
              <a:effectLst/>
              <a:latin typeface="+mn-lt"/>
              <a:ea typeface="+mn-ea"/>
              <a:cs typeface="+mn-cs"/>
            </a:endParaRPr>
          </a:p>
          <a:p>
            <a:endParaRPr lang="en-GB" dirty="0"/>
          </a:p>
          <a:p>
            <a:endParaRPr lang="en-IE" dirty="0"/>
          </a:p>
        </p:txBody>
      </p:sp>
      <p:sp>
        <p:nvSpPr>
          <p:cNvPr id="4" name="Slide Number Placeholder 3"/>
          <p:cNvSpPr>
            <a:spLocks noGrp="1"/>
          </p:cNvSpPr>
          <p:nvPr>
            <p:ph type="sldNum" sz="quarter" idx="5"/>
          </p:nvPr>
        </p:nvSpPr>
        <p:spPr/>
        <p:txBody>
          <a:bodyPr/>
          <a:lstStyle/>
          <a:p>
            <a:fld id="{C439C384-FEF2-4015-9B8A-9427217FDE2D}" type="slidenum">
              <a:rPr lang="en-IE" smtClean="0"/>
              <a:t>3</a:t>
            </a:fld>
            <a:endParaRPr lang="en-IE"/>
          </a:p>
        </p:txBody>
      </p:sp>
    </p:spTree>
    <p:extLst>
      <p:ext uri="{BB962C8B-B14F-4D97-AF65-F5344CB8AC3E}">
        <p14:creationId xmlns:p14="http://schemas.microsoft.com/office/powerpoint/2010/main" val="31501109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E"/>
          </a:p>
        </p:txBody>
      </p:sp>
      <p:sp>
        <p:nvSpPr>
          <p:cNvPr id="3" name="Notes Placeholder 2"/>
          <p:cNvSpPr>
            <a:spLocks noGrp="1"/>
          </p:cNvSpPr>
          <p:nvPr>
            <p:ph type="body" idx="1"/>
          </p:nvPr>
        </p:nvSpPr>
        <p:spPr/>
        <p:txBody>
          <a:bodyPr/>
          <a:lstStyle/>
          <a:p>
            <a:r>
              <a:rPr lang="en-GB" dirty="0"/>
              <a:t>I will focus on building a larger game world, a persistent one that progresses and develops whether you oversee it or not. This will allow a player to move in the same game world and see how teams you were previously involved in either kick on or ruin your legacy. Drivers will be available for multiple disciplines, think the real-world triple crown or Kiki Räikkönen and Robert Kubica going into rally.</a:t>
            </a:r>
          </a:p>
          <a:p>
            <a:endParaRPr lang="en-GB" dirty="0"/>
          </a:p>
          <a:p>
            <a:r>
              <a:rPr lang="en-GB" dirty="0"/>
              <a:t>I envisage this being a large task, but I have laid a lot of groundwork with my game engines that I then will iterate on top of, each system will not have to be made from scratch.</a:t>
            </a:r>
            <a:endParaRPr lang="en-IE" dirty="0"/>
          </a:p>
        </p:txBody>
      </p:sp>
      <p:sp>
        <p:nvSpPr>
          <p:cNvPr id="4" name="Slide Number Placeholder 3"/>
          <p:cNvSpPr>
            <a:spLocks noGrp="1"/>
          </p:cNvSpPr>
          <p:nvPr>
            <p:ph type="sldNum" sz="quarter" idx="5"/>
          </p:nvPr>
        </p:nvSpPr>
        <p:spPr/>
        <p:txBody>
          <a:bodyPr/>
          <a:lstStyle/>
          <a:p>
            <a:fld id="{C439C384-FEF2-4015-9B8A-9427217FDE2D}" type="slidenum">
              <a:rPr lang="en-IE" smtClean="0"/>
              <a:t>4</a:t>
            </a:fld>
            <a:endParaRPr lang="en-IE"/>
          </a:p>
        </p:txBody>
      </p:sp>
    </p:spTree>
    <p:extLst>
      <p:ext uri="{BB962C8B-B14F-4D97-AF65-F5344CB8AC3E}">
        <p14:creationId xmlns:p14="http://schemas.microsoft.com/office/powerpoint/2010/main" val="11351462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8801D-F704-E77D-090A-B8CA1C6492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E"/>
          </a:p>
        </p:txBody>
      </p:sp>
      <p:sp>
        <p:nvSpPr>
          <p:cNvPr id="3" name="Subtitle 2">
            <a:extLst>
              <a:ext uri="{FF2B5EF4-FFF2-40B4-BE49-F238E27FC236}">
                <a16:creationId xmlns:a16="http://schemas.microsoft.com/office/drawing/2014/main" id="{4C71A710-F773-FB52-54F3-2D8089B2DCC4}"/>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IE" dirty="0"/>
          </a:p>
        </p:txBody>
      </p:sp>
      <p:sp>
        <p:nvSpPr>
          <p:cNvPr id="4" name="Date Placeholder 3">
            <a:extLst>
              <a:ext uri="{FF2B5EF4-FFF2-40B4-BE49-F238E27FC236}">
                <a16:creationId xmlns:a16="http://schemas.microsoft.com/office/drawing/2014/main" id="{807FEF94-4478-75DE-28A6-B3F87AAE1BB5}"/>
              </a:ext>
            </a:extLst>
          </p:cNvPr>
          <p:cNvSpPr>
            <a:spLocks noGrp="1"/>
          </p:cNvSpPr>
          <p:nvPr>
            <p:ph type="dt" sz="half" idx="10"/>
          </p:nvPr>
        </p:nvSpPr>
        <p:spPr/>
        <p:txBody>
          <a:bodyPr/>
          <a:lstStyle/>
          <a:p>
            <a:fld id="{DCFCBE93-8E4F-43D5-94BB-3D9BCCE02D4C}" type="datetime1">
              <a:rPr lang="en-US" smtClean="0"/>
              <a:t>8/1/2026</a:t>
            </a:fld>
            <a:endParaRPr lang="en-US"/>
          </a:p>
        </p:txBody>
      </p:sp>
      <p:sp>
        <p:nvSpPr>
          <p:cNvPr id="5" name="Footer Placeholder 4">
            <a:extLst>
              <a:ext uri="{FF2B5EF4-FFF2-40B4-BE49-F238E27FC236}">
                <a16:creationId xmlns:a16="http://schemas.microsoft.com/office/drawing/2014/main" id="{BFD07F51-DDCE-95B2-0E76-37BD0E219CF3}"/>
              </a:ext>
            </a:extLst>
          </p:cNvPr>
          <p:cNvSpPr>
            <a:spLocks noGrp="1"/>
          </p:cNvSpPr>
          <p:nvPr>
            <p:ph type="ftr" sz="quarter" idx="11"/>
          </p:nvPr>
        </p:nvSpPr>
        <p:spPr>
          <a:xfrm>
            <a:off x="4038600" y="6492874"/>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C75D9548-D479-703D-372E-170FB5E0E1C0}"/>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008130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314F8-F111-E0D8-9003-AC12D9F661CB}"/>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19CFE2C7-3C68-3639-7113-777D2961177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1F7F8AC-EF14-AA86-FDE7-E03007D52E24}"/>
              </a:ext>
            </a:extLst>
          </p:cNvPr>
          <p:cNvSpPr>
            <a:spLocks noGrp="1"/>
          </p:cNvSpPr>
          <p:nvPr>
            <p:ph type="dt" sz="half" idx="10"/>
          </p:nvPr>
        </p:nvSpPr>
        <p:spPr/>
        <p:txBody>
          <a:bodyPr/>
          <a:lstStyle/>
          <a:p>
            <a:fld id="{C889F087-D06C-4D03-9B30-1FD995930E7C}" type="datetime1">
              <a:rPr lang="en-US" smtClean="0"/>
              <a:t>8/1/2026</a:t>
            </a:fld>
            <a:endParaRPr lang="en-US"/>
          </a:p>
        </p:txBody>
      </p:sp>
      <p:sp>
        <p:nvSpPr>
          <p:cNvPr id="5" name="Footer Placeholder 4">
            <a:extLst>
              <a:ext uri="{FF2B5EF4-FFF2-40B4-BE49-F238E27FC236}">
                <a16:creationId xmlns:a16="http://schemas.microsoft.com/office/drawing/2014/main" id="{DAB497EF-C33F-DA61-20F1-D2D9E933F1E5}"/>
              </a:ext>
            </a:extLst>
          </p:cNvPr>
          <p:cNvSpPr>
            <a:spLocks noGrp="1"/>
          </p:cNvSpPr>
          <p:nvPr>
            <p:ph type="ftr" sz="quarter" idx="11"/>
          </p:nvPr>
        </p:nvSpPr>
        <p:spPr>
          <a:xfrm>
            <a:off x="4038599" y="6492874"/>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9E3F64C9-2340-6877-DF29-6AC68EAFB3AD}"/>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1526337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F0FB9-3189-3FCC-6B5C-9DAE7B171CB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135754FB-CBA9-EE06-6CC8-E3564C13C69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1CA01E2-779E-7BBF-2A6C-EE49EF00DA3E}"/>
              </a:ext>
            </a:extLst>
          </p:cNvPr>
          <p:cNvSpPr>
            <a:spLocks noGrp="1"/>
          </p:cNvSpPr>
          <p:nvPr>
            <p:ph type="dt" sz="half" idx="10"/>
          </p:nvPr>
        </p:nvSpPr>
        <p:spPr/>
        <p:txBody>
          <a:bodyPr/>
          <a:lstStyle/>
          <a:p>
            <a:fld id="{716390DD-C8B9-4FA1-B19A-AD5E6313EA9F}" type="datetime1">
              <a:rPr lang="en-US" smtClean="0"/>
              <a:t>8/1/2026</a:t>
            </a:fld>
            <a:endParaRPr lang="en-US"/>
          </a:p>
        </p:txBody>
      </p:sp>
      <p:sp>
        <p:nvSpPr>
          <p:cNvPr id="5" name="Footer Placeholder 4">
            <a:extLst>
              <a:ext uri="{FF2B5EF4-FFF2-40B4-BE49-F238E27FC236}">
                <a16:creationId xmlns:a16="http://schemas.microsoft.com/office/drawing/2014/main" id="{C61B7A27-5266-572D-5C3F-78E4A610A8A3}"/>
              </a:ext>
            </a:extLst>
          </p:cNvPr>
          <p:cNvSpPr>
            <a:spLocks noGrp="1"/>
          </p:cNvSpPr>
          <p:nvPr>
            <p:ph type="ftr" sz="quarter" idx="11"/>
          </p:nvPr>
        </p:nvSpPr>
        <p:spPr>
          <a:xfrm>
            <a:off x="4038600" y="6492875"/>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092FA338-A839-7DF6-2141-75C24C7984E0}"/>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730930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9F502-B9CC-9511-CA4F-768C86C50A49}"/>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2FE7390E-D3B0-2151-86DC-17005B9400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E8DA8394-E971-7295-2D5B-D0BCAC063B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E5960913-BEE8-6550-8CBE-74154EED3A9D}"/>
              </a:ext>
            </a:extLst>
          </p:cNvPr>
          <p:cNvSpPr>
            <a:spLocks noGrp="1"/>
          </p:cNvSpPr>
          <p:nvPr>
            <p:ph type="dt" sz="half" idx="10"/>
          </p:nvPr>
        </p:nvSpPr>
        <p:spPr/>
        <p:txBody>
          <a:bodyPr/>
          <a:lstStyle/>
          <a:p>
            <a:fld id="{D3528E2F-7DCC-40BC-8C3D-60ADC4949A7D}" type="datetime1">
              <a:rPr lang="en-US" smtClean="0"/>
              <a:t>8/1/2026</a:t>
            </a:fld>
            <a:endParaRPr lang="en-US"/>
          </a:p>
        </p:txBody>
      </p:sp>
      <p:sp>
        <p:nvSpPr>
          <p:cNvPr id="6" name="Footer Placeholder 5">
            <a:extLst>
              <a:ext uri="{FF2B5EF4-FFF2-40B4-BE49-F238E27FC236}">
                <a16:creationId xmlns:a16="http://schemas.microsoft.com/office/drawing/2014/main" id="{49237AAB-9773-AC74-E7BA-C7D8FBEA02A5}"/>
              </a:ext>
            </a:extLst>
          </p:cNvPr>
          <p:cNvSpPr>
            <a:spLocks noGrp="1"/>
          </p:cNvSpPr>
          <p:nvPr>
            <p:ph type="ftr" sz="quarter" idx="11"/>
          </p:nvPr>
        </p:nvSpPr>
        <p:spPr>
          <a:xfrm>
            <a:off x="4038600" y="6502023"/>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0AB25601-7388-BE61-D4F3-A03F321D1391}"/>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065494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E97C0-7251-1B38-427D-BD39A29286FB}"/>
              </a:ext>
            </a:extLst>
          </p:cNvPr>
          <p:cNvSpPr>
            <a:spLocks noGrp="1"/>
          </p:cNvSpPr>
          <p:nvPr>
            <p:ph type="title"/>
          </p:nvPr>
        </p:nvSpPr>
        <p:spPr>
          <a:xfrm>
            <a:off x="839788" y="365125"/>
            <a:ext cx="10515600" cy="1325563"/>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84DFFC67-1F5E-AC88-FAF0-F13985A36E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639D57C-D0F1-87E6-910C-796806CBF1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AC9B3B97-49C3-538F-018F-93B196F3025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5FCBB95-9EE3-D2B9-46F7-950EBC2A94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4927A6BF-5DC4-49B5-895B-2DCB682EE2CC}"/>
              </a:ext>
            </a:extLst>
          </p:cNvPr>
          <p:cNvSpPr>
            <a:spLocks noGrp="1"/>
          </p:cNvSpPr>
          <p:nvPr>
            <p:ph type="dt" sz="half" idx="10"/>
          </p:nvPr>
        </p:nvSpPr>
        <p:spPr/>
        <p:txBody>
          <a:bodyPr/>
          <a:lstStyle/>
          <a:p>
            <a:fld id="{0E42FD16-0B33-49D4-994E-5D59F14BB469}" type="datetime1">
              <a:rPr lang="en-US" smtClean="0"/>
              <a:t>8/1/2026</a:t>
            </a:fld>
            <a:endParaRPr lang="en-US"/>
          </a:p>
        </p:txBody>
      </p:sp>
      <p:sp>
        <p:nvSpPr>
          <p:cNvPr id="8" name="Footer Placeholder 7">
            <a:extLst>
              <a:ext uri="{FF2B5EF4-FFF2-40B4-BE49-F238E27FC236}">
                <a16:creationId xmlns:a16="http://schemas.microsoft.com/office/drawing/2014/main" id="{990A78FC-D07D-4447-4257-EDFA94491C9E}"/>
              </a:ext>
            </a:extLst>
          </p:cNvPr>
          <p:cNvSpPr>
            <a:spLocks noGrp="1"/>
          </p:cNvSpPr>
          <p:nvPr>
            <p:ph type="ftr" sz="quarter" idx="11"/>
          </p:nvPr>
        </p:nvSpPr>
        <p:spPr>
          <a:xfrm>
            <a:off x="4038600" y="6508000"/>
            <a:ext cx="4114800" cy="365125"/>
          </a:xfrm>
          <a:prstGeom prst="rect">
            <a:avLst/>
          </a:prstGeom>
        </p:spPr>
        <p:txBody>
          <a:bodyPr/>
          <a:lstStyle/>
          <a:p>
            <a:endParaRPr lang="en-US" dirty="0"/>
          </a:p>
        </p:txBody>
      </p:sp>
      <p:sp>
        <p:nvSpPr>
          <p:cNvPr id="9" name="Slide Number Placeholder 8">
            <a:extLst>
              <a:ext uri="{FF2B5EF4-FFF2-40B4-BE49-F238E27FC236}">
                <a16:creationId xmlns:a16="http://schemas.microsoft.com/office/drawing/2014/main" id="{C9185BAA-AA4B-5D0B-9274-BB9CD32D20C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2549543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B9E4EB-B6A7-5ED3-84C5-B55954FBF57D}"/>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AE22695F-B891-2577-10D5-0982BC4E1780}"/>
              </a:ext>
            </a:extLst>
          </p:cNvPr>
          <p:cNvSpPr>
            <a:spLocks noGrp="1"/>
          </p:cNvSpPr>
          <p:nvPr>
            <p:ph type="dt" sz="half" idx="10"/>
          </p:nvPr>
        </p:nvSpPr>
        <p:spPr/>
        <p:txBody>
          <a:bodyPr/>
          <a:lstStyle/>
          <a:p>
            <a:fld id="{04048AD4-3D5D-45D6-84E6-5EEEE3F193D3}" type="datetime1">
              <a:rPr lang="en-US" smtClean="0"/>
              <a:t>8/1/2026</a:t>
            </a:fld>
            <a:endParaRPr lang="en-US"/>
          </a:p>
        </p:txBody>
      </p:sp>
      <p:sp>
        <p:nvSpPr>
          <p:cNvPr id="4" name="Footer Placeholder 3">
            <a:extLst>
              <a:ext uri="{FF2B5EF4-FFF2-40B4-BE49-F238E27FC236}">
                <a16:creationId xmlns:a16="http://schemas.microsoft.com/office/drawing/2014/main" id="{9EBD7E4B-675B-BA8E-8771-00C948358B5C}"/>
              </a:ext>
            </a:extLst>
          </p:cNvPr>
          <p:cNvSpPr>
            <a:spLocks noGrp="1"/>
          </p:cNvSpPr>
          <p:nvPr>
            <p:ph type="ftr" sz="quarter" idx="11"/>
          </p:nvPr>
        </p:nvSpPr>
        <p:spPr>
          <a:xfrm>
            <a:off x="4038600" y="6504634"/>
            <a:ext cx="4114800" cy="365125"/>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235A5643-566B-4DF7-4661-21E10806F64D}"/>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35203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CD1166-0491-6605-C089-765997D38B45}"/>
              </a:ext>
            </a:extLst>
          </p:cNvPr>
          <p:cNvSpPr>
            <a:spLocks noGrp="1"/>
          </p:cNvSpPr>
          <p:nvPr>
            <p:ph type="dt" sz="half" idx="10"/>
          </p:nvPr>
        </p:nvSpPr>
        <p:spPr/>
        <p:txBody>
          <a:bodyPr/>
          <a:lstStyle/>
          <a:p>
            <a:fld id="{7B1D4F7A-50EF-4184-95D2-C94723F359F9}" type="datetime1">
              <a:rPr lang="en-US" smtClean="0"/>
              <a:t>8/1/2026</a:t>
            </a:fld>
            <a:endParaRPr lang="en-US"/>
          </a:p>
        </p:txBody>
      </p:sp>
      <p:sp>
        <p:nvSpPr>
          <p:cNvPr id="3" name="Footer Placeholder 2">
            <a:extLst>
              <a:ext uri="{FF2B5EF4-FFF2-40B4-BE49-F238E27FC236}">
                <a16:creationId xmlns:a16="http://schemas.microsoft.com/office/drawing/2014/main" id="{17458C83-9288-5954-CD53-C30D3F352DB8}"/>
              </a:ext>
            </a:extLst>
          </p:cNvPr>
          <p:cNvSpPr>
            <a:spLocks noGrp="1"/>
          </p:cNvSpPr>
          <p:nvPr>
            <p:ph type="ftr" sz="quarter" idx="11"/>
          </p:nvPr>
        </p:nvSpPr>
        <p:spPr>
          <a:xfrm>
            <a:off x="4038600" y="6504638"/>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6D88F47B-AD44-BA70-74FE-64BF9935C73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6772919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917C8-0971-F20B-D0B2-F8406C74B5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04C6068E-AFD4-435D-1A6D-1A63754477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EE8F25A4-1682-78B1-77EA-310C780272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FB4F145-8363-5281-CF94-DEA5BAE28CFE}"/>
              </a:ext>
            </a:extLst>
          </p:cNvPr>
          <p:cNvSpPr>
            <a:spLocks noGrp="1"/>
          </p:cNvSpPr>
          <p:nvPr>
            <p:ph type="dt" sz="half" idx="10"/>
          </p:nvPr>
        </p:nvSpPr>
        <p:spPr/>
        <p:txBody>
          <a:bodyPr/>
          <a:lstStyle/>
          <a:p>
            <a:fld id="{53A911ED-9804-43CB-9F75-C96652EB10E9}" type="datetime1">
              <a:rPr lang="en-US" smtClean="0"/>
              <a:t>8/1/2026</a:t>
            </a:fld>
            <a:endParaRPr lang="en-US"/>
          </a:p>
        </p:txBody>
      </p:sp>
      <p:sp>
        <p:nvSpPr>
          <p:cNvPr id="6" name="Footer Placeholder 5">
            <a:extLst>
              <a:ext uri="{FF2B5EF4-FFF2-40B4-BE49-F238E27FC236}">
                <a16:creationId xmlns:a16="http://schemas.microsoft.com/office/drawing/2014/main" id="{3985CE4D-C3E2-863A-D1E0-257A6DCD3F61}"/>
              </a:ext>
            </a:extLst>
          </p:cNvPr>
          <p:cNvSpPr>
            <a:spLocks noGrp="1"/>
          </p:cNvSpPr>
          <p:nvPr>
            <p:ph type="ftr" sz="quarter" idx="11"/>
          </p:nvPr>
        </p:nvSpPr>
        <p:spPr>
          <a:xfrm>
            <a:off x="4038600" y="6492875"/>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5068C010-ED98-8188-C4CE-9790F3B0FAF1}"/>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3015904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2CBC2-BD39-373D-07E2-76FC4DF4CF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8822322F-7B92-6993-82D8-34A98F239C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3193AC0A-0EF2-EA59-3D1F-835105F54A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454A74-D909-F5D0-B17E-9B243F6E2AAD}"/>
              </a:ext>
            </a:extLst>
          </p:cNvPr>
          <p:cNvSpPr>
            <a:spLocks noGrp="1"/>
          </p:cNvSpPr>
          <p:nvPr>
            <p:ph type="dt" sz="half" idx="10"/>
          </p:nvPr>
        </p:nvSpPr>
        <p:spPr/>
        <p:txBody>
          <a:bodyPr/>
          <a:lstStyle/>
          <a:p>
            <a:fld id="{68BDE276-C07D-4BC6-BADA-0096F65127DD}" type="datetime1">
              <a:rPr lang="en-US" smtClean="0"/>
              <a:t>8/1/2026</a:t>
            </a:fld>
            <a:endParaRPr lang="en-US"/>
          </a:p>
        </p:txBody>
      </p:sp>
      <p:sp>
        <p:nvSpPr>
          <p:cNvPr id="6" name="Footer Placeholder 5">
            <a:extLst>
              <a:ext uri="{FF2B5EF4-FFF2-40B4-BE49-F238E27FC236}">
                <a16:creationId xmlns:a16="http://schemas.microsoft.com/office/drawing/2014/main" id="{9C94A600-B54D-CCB5-FAA9-1D311C67C74B}"/>
              </a:ext>
            </a:extLst>
          </p:cNvPr>
          <p:cNvSpPr>
            <a:spLocks noGrp="1"/>
          </p:cNvSpPr>
          <p:nvPr>
            <p:ph type="ftr" sz="quarter" idx="11"/>
          </p:nvPr>
        </p:nvSpPr>
        <p:spPr>
          <a:xfrm>
            <a:off x="4038600" y="6492875"/>
            <a:ext cx="4114800" cy="365125"/>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B452F6B3-D1D2-06EF-3DD0-F23E0388586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139567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53412-3DDB-004D-8635-51DBFA0A3AD8}"/>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C30EB0B9-176B-D15F-114D-5437FB5DB7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7414134E-02AC-6451-8791-3E08F3F2139C}"/>
              </a:ext>
            </a:extLst>
          </p:cNvPr>
          <p:cNvSpPr>
            <a:spLocks noGrp="1"/>
          </p:cNvSpPr>
          <p:nvPr>
            <p:ph type="dt" sz="half" idx="10"/>
          </p:nvPr>
        </p:nvSpPr>
        <p:spPr/>
        <p:txBody>
          <a:bodyPr/>
          <a:lstStyle/>
          <a:p>
            <a:fld id="{A6D2D44A-2BD4-4D89-BA19-78E185FF2901}" type="datetime1">
              <a:rPr lang="en-US" smtClean="0"/>
              <a:t>8/1/2026</a:t>
            </a:fld>
            <a:endParaRPr lang="en-US"/>
          </a:p>
        </p:txBody>
      </p:sp>
      <p:sp>
        <p:nvSpPr>
          <p:cNvPr id="5" name="Footer Placeholder 4">
            <a:extLst>
              <a:ext uri="{FF2B5EF4-FFF2-40B4-BE49-F238E27FC236}">
                <a16:creationId xmlns:a16="http://schemas.microsoft.com/office/drawing/2014/main" id="{D511D431-1CEB-EB64-13BF-3C37A42221E8}"/>
              </a:ext>
            </a:extLst>
          </p:cNvPr>
          <p:cNvSpPr>
            <a:spLocks noGrp="1"/>
          </p:cNvSpPr>
          <p:nvPr>
            <p:ph type="ftr" sz="quarter" idx="11"/>
          </p:nvPr>
        </p:nvSpPr>
        <p:spPr>
          <a:xfrm>
            <a:off x="4038600" y="6492875"/>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11E28DD5-FBFD-1370-DE05-EC07B8C0BEC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654306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BDDF21-088B-3523-2D06-899A7CA05F5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0DEAE198-4810-2202-27C7-C79D2D804E8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2A9A1C91-8144-A0CF-97EB-761719F04F1C}"/>
              </a:ext>
            </a:extLst>
          </p:cNvPr>
          <p:cNvSpPr>
            <a:spLocks noGrp="1"/>
          </p:cNvSpPr>
          <p:nvPr>
            <p:ph type="dt" sz="half" idx="10"/>
          </p:nvPr>
        </p:nvSpPr>
        <p:spPr/>
        <p:txBody>
          <a:bodyPr/>
          <a:lstStyle/>
          <a:p>
            <a:fld id="{48F5A2EC-C415-40FD-B4CA-288F246EAD97}" type="datetime1">
              <a:rPr lang="en-US" smtClean="0"/>
              <a:t>8/1/2026</a:t>
            </a:fld>
            <a:endParaRPr lang="en-US"/>
          </a:p>
        </p:txBody>
      </p:sp>
      <p:sp>
        <p:nvSpPr>
          <p:cNvPr id="5" name="Footer Placeholder 4">
            <a:extLst>
              <a:ext uri="{FF2B5EF4-FFF2-40B4-BE49-F238E27FC236}">
                <a16:creationId xmlns:a16="http://schemas.microsoft.com/office/drawing/2014/main" id="{17AE5451-A054-D586-A527-150740D449A4}"/>
              </a:ext>
            </a:extLst>
          </p:cNvPr>
          <p:cNvSpPr>
            <a:spLocks noGrp="1"/>
          </p:cNvSpPr>
          <p:nvPr>
            <p:ph type="ftr" sz="quarter" idx="11"/>
          </p:nvPr>
        </p:nvSpPr>
        <p:spPr>
          <a:xfrm>
            <a:off x="4038600" y="649866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DDC8268D-BA66-D53C-8B66-7487EB77E2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7974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8BE512E-EB4F-91E7-540E-C7E40E2EF14E}"/>
              </a:ext>
            </a:extLst>
          </p:cNvPr>
          <p:cNvSpPr/>
          <p:nvPr userDrawn="1"/>
        </p:nvSpPr>
        <p:spPr>
          <a:xfrm>
            <a:off x="0" y="6807200"/>
            <a:ext cx="12192000" cy="865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2" name="Title Placeholder 1">
            <a:extLst>
              <a:ext uri="{FF2B5EF4-FFF2-40B4-BE49-F238E27FC236}">
                <a16:creationId xmlns:a16="http://schemas.microsoft.com/office/drawing/2014/main" id="{158A0B68-68DB-2342-58A0-146E356EE1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IE" dirty="0"/>
          </a:p>
        </p:txBody>
      </p:sp>
      <p:sp>
        <p:nvSpPr>
          <p:cNvPr id="3" name="Text Placeholder 2">
            <a:extLst>
              <a:ext uri="{FF2B5EF4-FFF2-40B4-BE49-F238E27FC236}">
                <a16:creationId xmlns:a16="http://schemas.microsoft.com/office/drawing/2014/main" id="{D879307D-0E25-E69B-3ACD-28F0DF1375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E" dirty="0"/>
          </a:p>
        </p:txBody>
      </p:sp>
      <p:sp>
        <p:nvSpPr>
          <p:cNvPr id="4" name="Date Placeholder 3">
            <a:extLst>
              <a:ext uri="{FF2B5EF4-FFF2-40B4-BE49-F238E27FC236}">
                <a16:creationId xmlns:a16="http://schemas.microsoft.com/office/drawing/2014/main" id="{87506AFB-9F7F-8999-F434-43D3C987D106}"/>
              </a:ext>
            </a:extLst>
          </p:cNvPr>
          <p:cNvSpPr>
            <a:spLocks noGrp="1"/>
          </p:cNvSpPr>
          <p:nvPr>
            <p:ph type="dt" sz="half" idx="2"/>
          </p:nvPr>
        </p:nvSpPr>
        <p:spPr>
          <a:xfrm>
            <a:off x="838199" y="6492875"/>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506811-9558-4283-B7CE-ABA783DD6862}" type="datetime1">
              <a:rPr lang="en-US" smtClean="0"/>
              <a:t>8/1/2026</a:t>
            </a:fld>
            <a:endParaRPr lang="en-US"/>
          </a:p>
        </p:txBody>
      </p:sp>
      <p:sp>
        <p:nvSpPr>
          <p:cNvPr id="6" name="Slide Number Placeholder 5">
            <a:extLst>
              <a:ext uri="{FF2B5EF4-FFF2-40B4-BE49-F238E27FC236}">
                <a16:creationId xmlns:a16="http://schemas.microsoft.com/office/drawing/2014/main" id="{BBE0788F-DE30-7A5C-FEE6-F3327DF704EF}"/>
              </a:ext>
            </a:extLst>
          </p:cNvPr>
          <p:cNvSpPr>
            <a:spLocks noGrp="1"/>
          </p:cNvSpPr>
          <p:nvPr>
            <p:ph type="sldNum" sz="quarter" idx="4"/>
          </p:nvPr>
        </p:nvSpPr>
        <p:spPr>
          <a:xfrm>
            <a:off x="8610599"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0C12960-6E85-460F-B6E3-5B82CB31AF3D}" type="slidenum">
              <a:rPr lang="en-US" smtClean="0"/>
              <a:t>‹#›</a:t>
            </a:fld>
            <a:endParaRPr lang="en-US"/>
          </a:p>
        </p:txBody>
      </p:sp>
      <p:sp>
        <p:nvSpPr>
          <p:cNvPr id="7" name="Footer Placeholder 6">
            <a:extLst>
              <a:ext uri="{FF2B5EF4-FFF2-40B4-BE49-F238E27FC236}">
                <a16:creationId xmlns:a16="http://schemas.microsoft.com/office/drawing/2014/main" id="{38284056-48C6-B98D-7894-9CB1DF201E61}"/>
              </a:ext>
            </a:extLst>
          </p:cNvPr>
          <p:cNvSpPr>
            <a:spLocks noGrp="1"/>
          </p:cNvSpPr>
          <p:nvPr>
            <p:ph type="ftr" sz="quarter" idx="3"/>
          </p:nvPr>
        </p:nvSpPr>
        <p:spPr>
          <a:xfrm>
            <a:off x="4038599" y="6492875"/>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E" dirty="0"/>
          </a:p>
        </p:txBody>
      </p:sp>
      <p:pic>
        <p:nvPicPr>
          <p:cNvPr id="8" name="Picture 7" descr="A logo with a black background&#10;&#10;AI-generated content may be incorrect.">
            <a:extLst>
              <a:ext uri="{FF2B5EF4-FFF2-40B4-BE49-F238E27FC236}">
                <a16:creationId xmlns:a16="http://schemas.microsoft.com/office/drawing/2014/main" id="{9944E505-AF89-3EA3-F88B-F8ED1D9A810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0599737" y="136525"/>
            <a:ext cx="1508125" cy="1508125"/>
          </a:xfrm>
          <a:prstGeom prst="rect">
            <a:avLst/>
          </a:prstGeom>
        </p:spPr>
      </p:pic>
      <p:sp>
        <p:nvSpPr>
          <p:cNvPr id="5" name="Rectangle 4">
            <a:extLst>
              <a:ext uri="{FF2B5EF4-FFF2-40B4-BE49-F238E27FC236}">
                <a16:creationId xmlns:a16="http://schemas.microsoft.com/office/drawing/2014/main" id="{8B9A793F-430C-9B20-3CC8-0E953F583953}"/>
              </a:ext>
            </a:extLst>
          </p:cNvPr>
          <p:cNvSpPr/>
          <p:nvPr userDrawn="1"/>
        </p:nvSpPr>
        <p:spPr>
          <a:xfrm rot="18900000">
            <a:off x="-457946" y="19900"/>
            <a:ext cx="1213223" cy="114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0" name="Rectangle 9">
            <a:extLst>
              <a:ext uri="{FF2B5EF4-FFF2-40B4-BE49-F238E27FC236}">
                <a16:creationId xmlns:a16="http://schemas.microsoft.com/office/drawing/2014/main" id="{0616D7EA-1FE8-CB66-151B-B201626C9642}"/>
              </a:ext>
            </a:extLst>
          </p:cNvPr>
          <p:cNvSpPr/>
          <p:nvPr userDrawn="1"/>
        </p:nvSpPr>
        <p:spPr>
          <a:xfrm rot="18900000">
            <a:off x="-305546" y="172300"/>
            <a:ext cx="1213223" cy="114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1" name="Rectangle 10">
            <a:extLst>
              <a:ext uri="{FF2B5EF4-FFF2-40B4-BE49-F238E27FC236}">
                <a16:creationId xmlns:a16="http://schemas.microsoft.com/office/drawing/2014/main" id="{8838CBC7-EA6E-152C-8584-4E3C0547EB46}"/>
              </a:ext>
            </a:extLst>
          </p:cNvPr>
          <p:cNvSpPr/>
          <p:nvPr userDrawn="1"/>
        </p:nvSpPr>
        <p:spPr>
          <a:xfrm rot="18900000">
            <a:off x="-259285" y="327588"/>
            <a:ext cx="1417565" cy="1252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Tree>
    <p:extLst>
      <p:ext uri="{BB962C8B-B14F-4D97-AF65-F5344CB8AC3E}">
        <p14:creationId xmlns:p14="http://schemas.microsoft.com/office/powerpoint/2010/main" val="3406702171"/>
      </p:ext>
    </p:extLst>
  </p:cSld>
  <p:clrMap bg1="lt1" tx1="dk1" bg2="lt2" tx2="dk2" accent1="accent1" accent2="accent2" accent3="accent3" accent4="accent4" accent5="accent5" accent6="accent6" hlink="hlink" folHlink="folHlink"/>
  <p:sldLayoutIdLst>
    <p:sldLayoutId id="2147483973" r:id="rId1"/>
    <p:sldLayoutId id="2147483974" r:id="rId2"/>
    <p:sldLayoutId id="2147483975" r:id="rId3"/>
    <p:sldLayoutId id="2147483976" r:id="rId4"/>
    <p:sldLayoutId id="2147483977" r:id="rId5"/>
    <p:sldLayoutId id="2147483978" r:id="rId6"/>
    <p:sldLayoutId id="2147483979" r:id="rId7"/>
    <p:sldLayoutId id="2147483980" r:id="rId8"/>
    <p:sldLayoutId id="2147483981" r:id="rId9"/>
    <p:sldLayoutId id="2147483982" r:id="rId10"/>
    <p:sldLayoutId id="2147483983" r:id="rId11"/>
  </p:sldLayoutIdLst>
  <p:hf sldNum="0" hdr="0" ftr="0" dt="0"/>
  <p:txStyles>
    <p:titleStyle>
      <a:lvl1pPr algn="ctr" defTabSz="914400" rtl="0" eaLnBrk="1" latinLnBrk="0" hangingPunct="1">
        <a:lnSpc>
          <a:spcPct val="90000"/>
        </a:lnSpc>
        <a:spcBef>
          <a:spcPct val="0"/>
        </a:spcBef>
        <a:buNone/>
        <a:defRPr sz="4400" kern="1200">
          <a:solidFill>
            <a:schemeClr val="accent1"/>
          </a:solidFill>
          <a:latin typeface="Segoe UI Semibold" panose="020B0702040204020203" pitchFamily="34" charset="0"/>
          <a:ea typeface="+mj-ea"/>
          <a:cs typeface="Segoe UI Semibold" panose="020B07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2"/>
          </a:solidFill>
          <a:latin typeface="Segoe UI Light" panose="020B0502040204020203" pitchFamily="34" charset="0"/>
          <a:ea typeface="+mn-ea"/>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2"/>
          </a:solidFill>
          <a:latin typeface="Segoe UI Light" panose="020B0502040204020203" pitchFamily="34" charset="0"/>
          <a:ea typeface="+mn-ea"/>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2"/>
          </a:solidFill>
          <a:latin typeface="Segoe UI Light" panose="020B0502040204020203" pitchFamily="34" charset="0"/>
          <a:ea typeface="+mn-ea"/>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2"/>
          </a:solidFill>
          <a:latin typeface="Segoe UI Light" panose="020B0502040204020203" pitchFamily="34" charset="0"/>
          <a:ea typeface="+mn-ea"/>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2"/>
          </a:solidFill>
          <a:latin typeface="Segoe UI Light" panose="020B0502040204020203" pitchFamily="34" charset="0"/>
          <a:ea typeface="+mn-ea"/>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8.png"/><Relationship Id="rId7" Type="http://schemas.openxmlformats.org/officeDocument/2006/relationships/diagramColors" Target="../diagrams/colors1.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A7162-9DB8-9D28-7A4C-65684F0DB02C}"/>
              </a:ext>
            </a:extLst>
          </p:cNvPr>
          <p:cNvSpPr>
            <a:spLocks noGrp="1"/>
          </p:cNvSpPr>
          <p:nvPr>
            <p:ph type="ctrTitle"/>
          </p:nvPr>
        </p:nvSpPr>
        <p:spPr/>
        <p:txBody>
          <a:bodyPr/>
          <a:lstStyle/>
          <a:p>
            <a:r>
              <a:rPr lang="en-GB" dirty="0"/>
              <a:t>MOMENTUM</a:t>
            </a:r>
            <a:endParaRPr lang="en-IE" dirty="0"/>
          </a:p>
        </p:txBody>
      </p:sp>
      <p:sp>
        <p:nvSpPr>
          <p:cNvPr id="3" name="Subtitle 2">
            <a:extLst>
              <a:ext uri="{FF2B5EF4-FFF2-40B4-BE49-F238E27FC236}">
                <a16:creationId xmlns:a16="http://schemas.microsoft.com/office/drawing/2014/main" id="{28827B4E-9EF3-9C78-236D-39EF144F01ED}"/>
              </a:ext>
            </a:extLst>
          </p:cNvPr>
          <p:cNvSpPr>
            <a:spLocks noGrp="1"/>
          </p:cNvSpPr>
          <p:nvPr>
            <p:ph type="subTitle" idx="1"/>
          </p:nvPr>
        </p:nvSpPr>
        <p:spPr/>
        <p:txBody>
          <a:bodyPr/>
          <a:lstStyle/>
          <a:p>
            <a:r>
              <a:rPr lang="en-GB" dirty="0"/>
              <a:t>MULTI-DISCIPLINE MOTORSPORT MANAGER</a:t>
            </a:r>
            <a:endParaRPr lang="en-IE" dirty="0"/>
          </a:p>
        </p:txBody>
      </p:sp>
    </p:spTree>
    <p:extLst>
      <p:ext uri="{BB962C8B-B14F-4D97-AF65-F5344CB8AC3E}">
        <p14:creationId xmlns:p14="http://schemas.microsoft.com/office/powerpoint/2010/main" val="265419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CBBB9-FD06-2558-F18D-8B5A939F6F1A}"/>
              </a:ext>
            </a:extLst>
          </p:cNvPr>
          <p:cNvSpPr>
            <a:spLocks noGrp="1"/>
          </p:cNvSpPr>
          <p:nvPr>
            <p:ph type="title"/>
          </p:nvPr>
        </p:nvSpPr>
        <p:spPr/>
        <p:txBody>
          <a:bodyPr/>
          <a:lstStyle/>
          <a:p>
            <a:pPr algn="ctr"/>
            <a:r>
              <a:rPr lang="en-GB" dirty="0"/>
              <a:t>The Past – What Compares?</a:t>
            </a:r>
            <a:endParaRPr lang="en-IE" dirty="0"/>
          </a:p>
        </p:txBody>
      </p:sp>
      <p:pic>
        <p:nvPicPr>
          <p:cNvPr id="1026" name="Picture 2" descr="Motorsport Manager on Steam">
            <a:extLst>
              <a:ext uri="{FF2B5EF4-FFF2-40B4-BE49-F238E27FC236}">
                <a16:creationId xmlns:a16="http://schemas.microsoft.com/office/drawing/2014/main" id="{98E076EA-F95D-C170-6762-1F28DB7E4100}"/>
              </a:ext>
            </a:extLst>
          </p:cNvPr>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tretch>
            <a:fillRect/>
          </a:stretch>
        </p:blipFill>
        <p:spPr bwMode="auto">
          <a:xfrm>
            <a:off x="355600" y="2060020"/>
            <a:ext cx="5664200" cy="318611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Three games in, is F1 Manager succeeding? - The Race">
            <a:extLst>
              <a:ext uri="{FF2B5EF4-FFF2-40B4-BE49-F238E27FC236}">
                <a16:creationId xmlns:a16="http://schemas.microsoft.com/office/drawing/2014/main" id="{B8D25B6F-DF10-59AE-EEC0-9478D2A7B6E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6172202" y="2060020"/>
            <a:ext cx="5664200" cy="318611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EB669A6-7859-7D1B-A144-BF4168F9D7E7}"/>
              </a:ext>
            </a:extLst>
          </p:cNvPr>
          <p:cNvSpPr txBox="1"/>
          <p:nvPr/>
        </p:nvSpPr>
        <p:spPr>
          <a:xfrm>
            <a:off x="2086404" y="1690688"/>
            <a:ext cx="2202591" cy="369332"/>
          </a:xfrm>
          <a:prstGeom prst="rect">
            <a:avLst/>
          </a:prstGeom>
          <a:noFill/>
        </p:spPr>
        <p:txBody>
          <a:bodyPr wrap="none" rtlCol="0">
            <a:spAutoFit/>
          </a:bodyPr>
          <a:lstStyle/>
          <a:p>
            <a:pPr algn="ctr"/>
            <a:r>
              <a:rPr lang="en-GB" dirty="0">
                <a:solidFill>
                  <a:schemeClr val="accent2"/>
                </a:solidFill>
              </a:rPr>
              <a:t>Motorsport Manager</a:t>
            </a:r>
            <a:endParaRPr lang="en-IE" dirty="0">
              <a:solidFill>
                <a:schemeClr val="accent2"/>
              </a:solidFill>
            </a:endParaRPr>
          </a:p>
        </p:txBody>
      </p:sp>
      <p:sp>
        <p:nvSpPr>
          <p:cNvPr id="7" name="TextBox 6">
            <a:extLst>
              <a:ext uri="{FF2B5EF4-FFF2-40B4-BE49-F238E27FC236}">
                <a16:creationId xmlns:a16="http://schemas.microsoft.com/office/drawing/2014/main" id="{CB536009-FF63-F366-476D-0CB3CD97E727}"/>
              </a:ext>
            </a:extLst>
          </p:cNvPr>
          <p:cNvSpPr txBox="1"/>
          <p:nvPr/>
        </p:nvSpPr>
        <p:spPr>
          <a:xfrm>
            <a:off x="8333316" y="1702079"/>
            <a:ext cx="1341970" cy="369332"/>
          </a:xfrm>
          <a:prstGeom prst="rect">
            <a:avLst/>
          </a:prstGeom>
          <a:noFill/>
        </p:spPr>
        <p:txBody>
          <a:bodyPr wrap="none" rtlCol="0">
            <a:spAutoFit/>
          </a:bodyPr>
          <a:lstStyle/>
          <a:p>
            <a:pPr algn="ctr"/>
            <a:r>
              <a:rPr lang="en-GB" dirty="0">
                <a:solidFill>
                  <a:schemeClr val="accent2"/>
                </a:solidFill>
              </a:rPr>
              <a:t>F1 Manager</a:t>
            </a:r>
            <a:endParaRPr lang="en-IE" dirty="0">
              <a:solidFill>
                <a:schemeClr val="accent2"/>
              </a:solidFill>
            </a:endParaRPr>
          </a:p>
        </p:txBody>
      </p:sp>
    </p:spTree>
    <p:extLst>
      <p:ext uri="{BB962C8B-B14F-4D97-AF65-F5344CB8AC3E}">
        <p14:creationId xmlns:p14="http://schemas.microsoft.com/office/powerpoint/2010/main" val="9553018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9044C3-4FBA-D7F4-2BDE-B0D192853013}"/>
              </a:ext>
            </a:extLst>
          </p:cNvPr>
          <p:cNvSpPr>
            <a:spLocks noGrp="1"/>
          </p:cNvSpPr>
          <p:nvPr>
            <p:ph type="title"/>
          </p:nvPr>
        </p:nvSpPr>
        <p:spPr/>
        <p:txBody>
          <a:bodyPr anchor="ctr">
            <a:normAutofit/>
          </a:bodyPr>
          <a:lstStyle/>
          <a:p>
            <a:pPr algn="ctr"/>
            <a:r>
              <a:rPr lang="en-GB" dirty="0"/>
              <a:t>The Present – The MVP</a:t>
            </a:r>
            <a:endParaRPr lang="en-IE" dirty="0"/>
          </a:p>
        </p:txBody>
      </p:sp>
      <p:pic>
        <p:nvPicPr>
          <p:cNvPr id="16" name="Content Placeholder 15" descr="A screenshot of a computer&#10;&#10;AI-generated content may be incorrect.">
            <a:extLst>
              <a:ext uri="{FF2B5EF4-FFF2-40B4-BE49-F238E27FC236}">
                <a16:creationId xmlns:a16="http://schemas.microsoft.com/office/drawing/2014/main" id="{F827F380-AF29-368A-F44C-2DA1835CB19A}"/>
              </a:ext>
            </a:extLst>
          </p:cNvPr>
          <p:cNvPicPr>
            <a:picLocks noGrp="1" noChangeAspect="1"/>
          </p:cNvPicPr>
          <p:nvPr>
            <p:ph sz="half" idx="1"/>
          </p:nvPr>
        </p:nvPicPr>
        <p:blipFill>
          <a:blip r:embed="rId3"/>
          <a:stretch>
            <a:fillRect/>
          </a:stretch>
        </p:blipFill>
        <p:spPr>
          <a:xfrm>
            <a:off x="259800" y="1615923"/>
            <a:ext cx="5760000" cy="3132000"/>
          </a:xfrm>
          <a:prstGeom prst="rect">
            <a:avLst/>
          </a:prstGeom>
        </p:spPr>
      </p:pic>
      <p:pic>
        <p:nvPicPr>
          <p:cNvPr id="18" name="Content Placeholder 17" descr="A video game screen with a race track&#10;&#10;AI-generated content may be incorrect.">
            <a:extLst>
              <a:ext uri="{FF2B5EF4-FFF2-40B4-BE49-F238E27FC236}">
                <a16:creationId xmlns:a16="http://schemas.microsoft.com/office/drawing/2014/main" id="{457416EF-90BD-D1CF-D88A-32F4A9BCD16D}"/>
              </a:ext>
            </a:extLst>
          </p:cNvPr>
          <p:cNvPicPr>
            <a:picLocks noGrp="1" noChangeAspect="1"/>
          </p:cNvPicPr>
          <p:nvPr>
            <p:ph sz="half" idx="2"/>
          </p:nvPr>
        </p:nvPicPr>
        <p:blipFill>
          <a:blip r:embed="rId4"/>
          <a:stretch>
            <a:fillRect/>
          </a:stretch>
        </p:blipFill>
        <p:spPr>
          <a:xfrm>
            <a:off x="6263644" y="3299115"/>
            <a:ext cx="5760000" cy="3132000"/>
          </a:xfrm>
          <a:prstGeom prst="rect">
            <a:avLst/>
          </a:prstGeom>
        </p:spPr>
      </p:pic>
      <p:pic>
        <p:nvPicPr>
          <p:cNvPr id="20" name="Picture 19">
            <a:extLst>
              <a:ext uri="{FF2B5EF4-FFF2-40B4-BE49-F238E27FC236}">
                <a16:creationId xmlns:a16="http://schemas.microsoft.com/office/drawing/2014/main" id="{DD38AA2C-062E-CAE0-AFFB-58FD445BCB3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01085" y="2022302"/>
            <a:ext cx="571429" cy="295238"/>
          </a:xfrm>
          <a:prstGeom prst="rect">
            <a:avLst/>
          </a:prstGeom>
        </p:spPr>
      </p:pic>
      <p:sp>
        <p:nvSpPr>
          <p:cNvPr id="21" name="TextBox 20">
            <a:extLst>
              <a:ext uri="{FF2B5EF4-FFF2-40B4-BE49-F238E27FC236}">
                <a16:creationId xmlns:a16="http://schemas.microsoft.com/office/drawing/2014/main" id="{B85C7338-D306-DD02-1C46-3EE4E620158D}"/>
              </a:ext>
            </a:extLst>
          </p:cNvPr>
          <p:cNvSpPr txBox="1"/>
          <p:nvPr/>
        </p:nvSpPr>
        <p:spPr>
          <a:xfrm>
            <a:off x="8029184" y="1615923"/>
            <a:ext cx="1315232" cy="369332"/>
          </a:xfrm>
          <a:prstGeom prst="rect">
            <a:avLst/>
          </a:prstGeom>
          <a:noFill/>
        </p:spPr>
        <p:txBody>
          <a:bodyPr wrap="none" rtlCol="0">
            <a:spAutoFit/>
          </a:bodyPr>
          <a:lstStyle/>
          <a:p>
            <a:pPr algn="ctr"/>
            <a:r>
              <a:rPr lang="en-GB" dirty="0">
                <a:solidFill>
                  <a:schemeClr val="accent2"/>
                </a:solidFill>
              </a:rPr>
              <a:t>Base Sprite</a:t>
            </a:r>
            <a:endParaRPr lang="en-IE" dirty="0">
              <a:solidFill>
                <a:schemeClr val="accent2"/>
              </a:solidFill>
            </a:endParaRPr>
          </a:p>
        </p:txBody>
      </p:sp>
      <p:sp>
        <p:nvSpPr>
          <p:cNvPr id="22" name="TextBox 21">
            <a:extLst>
              <a:ext uri="{FF2B5EF4-FFF2-40B4-BE49-F238E27FC236}">
                <a16:creationId xmlns:a16="http://schemas.microsoft.com/office/drawing/2014/main" id="{C99930C0-6CC5-FB2F-1FE9-6ADAF01A0A2D}"/>
              </a:ext>
            </a:extLst>
          </p:cNvPr>
          <p:cNvSpPr txBox="1"/>
          <p:nvPr/>
        </p:nvSpPr>
        <p:spPr>
          <a:xfrm>
            <a:off x="2500843" y="1355435"/>
            <a:ext cx="1277914" cy="369332"/>
          </a:xfrm>
          <a:prstGeom prst="rect">
            <a:avLst/>
          </a:prstGeom>
          <a:noFill/>
        </p:spPr>
        <p:txBody>
          <a:bodyPr wrap="none" rtlCol="0">
            <a:spAutoFit/>
          </a:bodyPr>
          <a:lstStyle/>
          <a:p>
            <a:pPr algn="ctr"/>
            <a:r>
              <a:rPr lang="en-GB" dirty="0">
                <a:solidFill>
                  <a:schemeClr val="accent2"/>
                </a:solidFill>
              </a:rPr>
              <a:t>Main Menu</a:t>
            </a:r>
            <a:endParaRPr lang="en-IE" dirty="0">
              <a:solidFill>
                <a:schemeClr val="accent2"/>
              </a:solidFill>
            </a:endParaRPr>
          </a:p>
        </p:txBody>
      </p:sp>
      <p:pic>
        <p:nvPicPr>
          <p:cNvPr id="24" name="Picture 23" descr="A video game screen with a race car&#10;&#10;AI-generated content may be incorrect.">
            <a:extLst>
              <a:ext uri="{FF2B5EF4-FFF2-40B4-BE49-F238E27FC236}">
                <a16:creationId xmlns:a16="http://schemas.microsoft.com/office/drawing/2014/main" id="{9DF81096-B96F-C6DA-A334-4F3A3E47A358}"/>
              </a:ext>
            </a:extLst>
          </p:cNvPr>
          <p:cNvPicPr>
            <a:picLocks noChangeAspect="1"/>
          </p:cNvPicPr>
          <p:nvPr/>
        </p:nvPicPr>
        <p:blipFill>
          <a:blip r:embed="rId6"/>
          <a:stretch>
            <a:fillRect/>
          </a:stretch>
        </p:blipFill>
        <p:spPr>
          <a:xfrm>
            <a:off x="259802" y="4838500"/>
            <a:ext cx="3467650" cy="1552589"/>
          </a:xfrm>
          <a:prstGeom prst="rect">
            <a:avLst/>
          </a:prstGeom>
        </p:spPr>
      </p:pic>
      <p:sp>
        <p:nvSpPr>
          <p:cNvPr id="25" name="TextBox 24">
            <a:extLst>
              <a:ext uri="{FF2B5EF4-FFF2-40B4-BE49-F238E27FC236}">
                <a16:creationId xmlns:a16="http://schemas.microsoft.com/office/drawing/2014/main" id="{592D3A4D-8B49-3A18-9A7E-2E9618945D6A}"/>
              </a:ext>
            </a:extLst>
          </p:cNvPr>
          <p:cNvSpPr txBox="1"/>
          <p:nvPr/>
        </p:nvSpPr>
        <p:spPr>
          <a:xfrm>
            <a:off x="3727452" y="6112335"/>
            <a:ext cx="1529329" cy="369332"/>
          </a:xfrm>
          <a:prstGeom prst="rect">
            <a:avLst/>
          </a:prstGeom>
          <a:noFill/>
        </p:spPr>
        <p:txBody>
          <a:bodyPr wrap="none" rtlCol="0">
            <a:spAutoFit/>
          </a:bodyPr>
          <a:lstStyle/>
          <a:p>
            <a:pPr algn="ctr"/>
            <a:r>
              <a:rPr lang="en-GB" dirty="0">
                <a:solidFill>
                  <a:schemeClr val="accent2"/>
                </a:solidFill>
              </a:rPr>
              <a:t>Cars on Track</a:t>
            </a:r>
            <a:endParaRPr lang="en-IE" dirty="0">
              <a:solidFill>
                <a:schemeClr val="accent2"/>
              </a:solidFill>
            </a:endParaRPr>
          </a:p>
        </p:txBody>
      </p:sp>
      <p:sp>
        <p:nvSpPr>
          <p:cNvPr id="26" name="TextBox 25">
            <a:extLst>
              <a:ext uri="{FF2B5EF4-FFF2-40B4-BE49-F238E27FC236}">
                <a16:creationId xmlns:a16="http://schemas.microsoft.com/office/drawing/2014/main" id="{183A71B5-65C6-1C17-DC48-A15BED883807}"/>
              </a:ext>
            </a:extLst>
          </p:cNvPr>
          <p:cNvSpPr txBox="1"/>
          <p:nvPr/>
        </p:nvSpPr>
        <p:spPr>
          <a:xfrm>
            <a:off x="8179373" y="2929783"/>
            <a:ext cx="1928541" cy="369332"/>
          </a:xfrm>
          <a:prstGeom prst="rect">
            <a:avLst/>
          </a:prstGeom>
          <a:noFill/>
        </p:spPr>
        <p:txBody>
          <a:bodyPr wrap="none" rtlCol="0">
            <a:spAutoFit/>
          </a:bodyPr>
          <a:lstStyle/>
          <a:p>
            <a:pPr algn="ctr"/>
            <a:r>
              <a:rPr lang="en-GB" dirty="0">
                <a:solidFill>
                  <a:schemeClr val="accent2"/>
                </a:solidFill>
              </a:rPr>
              <a:t>Track &amp; Telemetry</a:t>
            </a:r>
            <a:endParaRPr lang="en-IE" dirty="0">
              <a:solidFill>
                <a:schemeClr val="accent2"/>
              </a:solidFill>
            </a:endParaRPr>
          </a:p>
        </p:txBody>
      </p:sp>
    </p:spTree>
    <p:extLst>
      <p:ext uri="{BB962C8B-B14F-4D97-AF65-F5344CB8AC3E}">
        <p14:creationId xmlns:p14="http://schemas.microsoft.com/office/powerpoint/2010/main" val="3990719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31D92-F9C3-958F-BCA4-D981F6C17845}"/>
              </a:ext>
            </a:extLst>
          </p:cNvPr>
          <p:cNvSpPr>
            <a:spLocks noGrp="1"/>
          </p:cNvSpPr>
          <p:nvPr>
            <p:ph type="title"/>
          </p:nvPr>
        </p:nvSpPr>
        <p:spPr>
          <a:xfrm>
            <a:off x="839788" y="457200"/>
            <a:ext cx="10512424" cy="1600200"/>
          </a:xfrm>
        </p:spPr>
        <p:txBody>
          <a:bodyPr anchor="ctr"/>
          <a:lstStyle/>
          <a:p>
            <a:r>
              <a:rPr lang="en-GB" dirty="0"/>
              <a:t>The Future – What Will Come?</a:t>
            </a:r>
            <a:endParaRPr lang="en-IE" dirty="0"/>
          </a:p>
        </p:txBody>
      </p:sp>
      <p:pic>
        <p:nvPicPr>
          <p:cNvPr id="7" name="Content Placeholder 6" descr="A screenshot of a computer&#10;&#10;AI-generated content may be incorrect.">
            <a:extLst>
              <a:ext uri="{FF2B5EF4-FFF2-40B4-BE49-F238E27FC236}">
                <a16:creationId xmlns:a16="http://schemas.microsoft.com/office/drawing/2014/main" id="{5E219A61-0BE0-71A5-FACB-DB825692BDC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180012" y="2002351"/>
            <a:ext cx="6172200" cy="3921686"/>
          </a:xfrm>
        </p:spPr>
      </p:pic>
      <p:graphicFrame>
        <p:nvGraphicFramePr>
          <p:cNvPr id="12" name="Diagram 11">
            <a:extLst>
              <a:ext uri="{FF2B5EF4-FFF2-40B4-BE49-F238E27FC236}">
                <a16:creationId xmlns:a16="http://schemas.microsoft.com/office/drawing/2014/main" id="{86349885-F96F-4DC6-D480-4B6F2BCA51F1}"/>
              </a:ext>
            </a:extLst>
          </p:cNvPr>
          <p:cNvGraphicFramePr/>
          <p:nvPr>
            <p:extLst>
              <p:ext uri="{D42A27DB-BD31-4B8C-83A1-F6EECF244321}">
                <p14:modId xmlns:p14="http://schemas.microsoft.com/office/powerpoint/2010/main" val="3309744533"/>
              </p:ext>
            </p:extLst>
          </p:nvPr>
        </p:nvGraphicFramePr>
        <p:xfrm>
          <a:off x="839788" y="2057400"/>
          <a:ext cx="3932237" cy="381158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423147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5171B95-8642-A756-BE86-6ADC35A847DA}"/>
              </a:ext>
            </a:extLst>
          </p:cNvPr>
          <p:cNvSpPr>
            <a:spLocks noGrp="1"/>
          </p:cNvSpPr>
          <p:nvPr>
            <p:ph type="title"/>
          </p:nvPr>
        </p:nvSpPr>
        <p:spPr>
          <a:xfrm>
            <a:off x="838200" y="2766218"/>
            <a:ext cx="10515600" cy="1325563"/>
          </a:xfrm>
        </p:spPr>
        <p:txBody>
          <a:bodyPr>
            <a:noAutofit/>
          </a:bodyPr>
          <a:lstStyle/>
          <a:p>
            <a:r>
              <a:rPr lang="en-GB" sz="9600" dirty="0"/>
              <a:t>Questions?</a:t>
            </a:r>
            <a:endParaRPr lang="en-IE" sz="9600" dirty="0"/>
          </a:p>
        </p:txBody>
      </p:sp>
    </p:spTree>
    <p:extLst>
      <p:ext uri="{BB962C8B-B14F-4D97-AF65-F5344CB8AC3E}">
        <p14:creationId xmlns:p14="http://schemas.microsoft.com/office/powerpoint/2010/main" val="2380583073"/>
      </p:ext>
    </p:extLst>
  </p:cSld>
  <p:clrMapOvr>
    <a:masterClrMapping/>
  </p:clrMapOvr>
</p:sld>
</file>

<file path=ppt/theme/theme1.xml><?xml version="1.0" encoding="utf-8"?>
<a:theme xmlns:a="http://schemas.openxmlformats.org/drawingml/2006/main" name="Office Theme">
  <a:themeElements>
    <a:clrScheme name="Momentum">
      <a:dk1>
        <a:srgbClr val="353839"/>
      </a:dk1>
      <a:lt1>
        <a:srgbClr val="B9F2FF"/>
      </a:lt1>
      <a:dk2>
        <a:srgbClr val="353839"/>
      </a:dk2>
      <a:lt2>
        <a:srgbClr val="F5F5F5"/>
      </a:lt2>
      <a:accent1>
        <a:srgbClr val="B9F2FF"/>
      </a:accent1>
      <a:accent2>
        <a:srgbClr val="DD2D4A"/>
      </a:accent2>
      <a:accent3>
        <a:srgbClr val="228B22"/>
      </a:accent3>
      <a:accent4>
        <a:srgbClr val="DAA520"/>
      </a:accent4>
      <a:accent5>
        <a:srgbClr val="353839"/>
      </a:accent5>
      <a:accent6>
        <a:srgbClr val="F5F5F5"/>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691</TotalTime>
  <Words>481</Words>
  <Application>Microsoft Office PowerPoint</Application>
  <PresentationFormat>Widescreen</PresentationFormat>
  <Paragraphs>33</Paragraphs>
  <Slides>5</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Arial</vt:lpstr>
      <vt:lpstr>Segoe UI Light</vt:lpstr>
      <vt:lpstr>Segoe UI Semibold</vt:lpstr>
      <vt:lpstr>Office Theme</vt:lpstr>
      <vt:lpstr>MOMENTUM</vt:lpstr>
      <vt:lpstr>The Past – What Compares?</vt:lpstr>
      <vt:lpstr>The Present – The MVP</vt:lpstr>
      <vt:lpstr>The Future – What Will Come?</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Eoin Fitzsimons</dc:creator>
  <cp:lastModifiedBy>Eoin Fitzsimons</cp:lastModifiedBy>
  <cp:revision>7</cp:revision>
  <dcterms:created xsi:type="dcterms:W3CDTF">2025-12-04T03:21:51Z</dcterms:created>
  <dcterms:modified xsi:type="dcterms:W3CDTF">2026-08-01T14:32:58Z</dcterms:modified>
</cp:coreProperties>
</file>