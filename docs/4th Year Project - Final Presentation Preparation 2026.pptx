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4"/>
  </p:sldMasterIdLst>
  <p:sldIdLst>
    <p:sldId id="256" r:id="rId5"/>
    <p:sldId id="257" r:id="rId6"/>
    <p:sldId id="273" r:id="rId7"/>
    <p:sldId id="276" r:id="rId8"/>
    <p:sldId id="277" r:id="rId9"/>
    <p:sldId id="258" r:id="rId10"/>
    <p:sldId id="280" r:id="rId11"/>
    <p:sldId id="279" r:id="rId12"/>
    <p:sldId id="26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945290-6202-4DF2-B9CC-34C1363BE3F9}" v="4" dt="2026-03-13T08:33:25.8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ces Sheridan" userId="e1035ac1-b35e-4f9d-9613-08d1a9a32bbd" providerId="ADAL" clId="{9A19646C-368B-49B7-921A-EFA5C12958A5}"/>
    <pc:docChg chg="undo custSel addSld modSld sldOrd">
      <pc:chgData name="Frances Sheridan" userId="e1035ac1-b35e-4f9d-9613-08d1a9a32bbd" providerId="ADAL" clId="{9A19646C-368B-49B7-921A-EFA5C12958A5}" dt="2026-03-13T08:36:52.595" v="265" actId="20577"/>
      <pc:docMkLst>
        <pc:docMk/>
      </pc:docMkLst>
      <pc:sldChg chg="modSp mod">
        <pc:chgData name="Frances Sheridan" userId="e1035ac1-b35e-4f9d-9613-08d1a9a32bbd" providerId="ADAL" clId="{9A19646C-368B-49B7-921A-EFA5C12958A5}" dt="2026-03-13T08:35:23.226" v="196" actId="20577"/>
        <pc:sldMkLst>
          <pc:docMk/>
          <pc:sldMk cId="3638790402" sldId="262"/>
        </pc:sldMkLst>
        <pc:spChg chg="mod">
          <ac:chgData name="Frances Sheridan" userId="e1035ac1-b35e-4f9d-9613-08d1a9a32bbd" providerId="ADAL" clId="{9A19646C-368B-49B7-921A-EFA5C12958A5}" dt="2026-03-13T08:35:23.226" v="196" actId="20577"/>
          <ac:spMkLst>
            <pc:docMk/>
            <pc:sldMk cId="3638790402" sldId="262"/>
            <ac:spMk id="3" creationId="{00000000-0000-0000-0000-000000000000}"/>
          </ac:spMkLst>
        </pc:spChg>
      </pc:sldChg>
      <pc:sldChg chg="modSp mod">
        <pc:chgData name="Frances Sheridan" userId="e1035ac1-b35e-4f9d-9613-08d1a9a32bbd" providerId="ADAL" clId="{9A19646C-368B-49B7-921A-EFA5C12958A5}" dt="2026-03-13T08:36:52.595" v="265" actId="20577"/>
        <pc:sldMkLst>
          <pc:docMk/>
          <pc:sldMk cId="4019315318" sldId="273"/>
        </pc:sldMkLst>
        <pc:spChg chg="mod">
          <ac:chgData name="Frances Sheridan" userId="e1035ac1-b35e-4f9d-9613-08d1a9a32bbd" providerId="ADAL" clId="{9A19646C-368B-49B7-921A-EFA5C12958A5}" dt="2026-03-13T08:36:09.526" v="204" actId="20577"/>
          <ac:spMkLst>
            <pc:docMk/>
            <pc:sldMk cId="4019315318" sldId="273"/>
            <ac:spMk id="2" creationId="{00000000-0000-0000-0000-000000000000}"/>
          </ac:spMkLst>
        </pc:spChg>
        <pc:spChg chg="mod">
          <ac:chgData name="Frances Sheridan" userId="e1035ac1-b35e-4f9d-9613-08d1a9a32bbd" providerId="ADAL" clId="{9A19646C-368B-49B7-921A-EFA5C12958A5}" dt="2026-03-13T08:36:52.595" v="265" actId="20577"/>
          <ac:spMkLst>
            <pc:docMk/>
            <pc:sldMk cId="4019315318" sldId="273"/>
            <ac:spMk id="3" creationId="{00000000-0000-0000-0000-000000000000}"/>
          </ac:spMkLst>
        </pc:spChg>
      </pc:sldChg>
      <pc:sldChg chg="modSp mod">
        <pc:chgData name="Frances Sheridan" userId="e1035ac1-b35e-4f9d-9613-08d1a9a32bbd" providerId="ADAL" clId="{9A19646C-368B-49B7-921A-EFA5C12958A5}" dt="2026-03-13T08:35:59.281" v="203" actId="6549"/>
        <pc:sldMkLst>
          <pc:docMk/>
          <pc:sldMk cId="3873301113" sldId="276"/>
        </pc:sldMkLst>
        <pc:spChg chg="mod">
          <ac:chgData name="Frances Sheridan" userId="e1035ac1-b35e-4f9d-9613-08d1a9a32bbd" providerId="ADAL" clId="{9A19646C-368B-49B7-921A-EFA5C12958A5}" dt="2026-03-13T08:35:59.281" v="203" actId="6549"/>
          <ac:spMkLst>
            <pc:docMk/>
            <pc:sldMk cId="3873301113" sldId="276"/>
            <ac:spMk id="3" creationId="{00000000-0000-0000-0000-000000000000}"/>
          </ac:spMkLst>
        </pc:spChg>
      </pc:sldChg>
      <pc:sldChg chg="modSp add mod ord">
        <pc:chgData name="Frances Sheridan" userId="e1035ac1-b35e-4f9d-9613-08d1a9a32bbd" providerId="ADAL" clId="{9A19646C-368B-49B7-921A-EFA5C12958A5}" dt="2026-03-13T08:35:34.182" v="198" actId="27636"/>
        <pc:sldMkLst>
          <pc:docMk/>
          <pc:sldMk cId="1620111204" sldId="279"/>
        </pc:sldMkLst>
        <pc:spChg chg="mod">
          <ac:chgData name="Frances Sheridan" userId="e1035ac1-b35e-4f9d-9613-08d1a9a32bbd" providerId="ADAL" clId="{9A19646C-368B-49B7-921A-EFA5C12958A5}" dt="2026-03-13T08:35:34.182" v="198" actId="27636"/>
          <ac:spMkLst>
            <pc:docMk/>
            <pc:sldMk cId="1620111204" sldId="279"/>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58ECB995-5920-4AE9-9D41-5AECAA8A3029}" type="datetimeFigureOut">
              <a:rPr lang="en-IE" smtClean="0"/>
              <a:t>13/03/2026</a:t>
            </a:fld>
            <a:endParaRPr lang="en-IE"/>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IE"/>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C52E558D-A71E-4129-8701-B54E55FA3917}" type="slidenum">
              <a:rPr lang="en-IE" smtClean="0"/>
              <a:t>‹#›</a:t>
            </a:fld>
            <a:endParaRPr lang="en-IE"/>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9562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ECB995-5920-4AE9-9D41-5AECAA8A3029}" type="datetimeFigureOut">
              <a:rPr lang="en-IE" smtClean="0"/>
              <a:t>13/03/2026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C52E558D-A71E-4129-8701-B54E55FA3917}" type="slidenum">
              <a:rPr lang="en-IE" smtClean="0"/>
              <a:t>‹#›</a:t>
            </a:fld>
            <a:endParaRPr lang="en-IE"/>
          </a:p>
        </p:txBody>
      </p:sp>
    </p:spTree>
    <p:extLst>
      <p:ext uri="{BB962C8B-B14F-4D97-AF65-F5344CB8AC3E}">
        <p14:creationId xmlns:p14="http://schemas.microsoft.com/office/powerpoint/2010/main" val="520924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8ECB995-5920-4AE9-9D41-5AECAA8A3029}" type="datetimeFigureOut">
              <a:rPr lang="en-IE" smtClean="0"/>
              <a:t>13/03/2026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C52E558D-A71E-4129-8701-B54E55FA3917}" type="slidenum">
              <a:rPr lang="en-IE" smtClean="0"/>
              <a:t>‹#›</a:t>
            </a:fld>
            <a:endParaRPr lang="en-IE"/>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3364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8ECB995-5920-4AE9-9D41-5AECAA8A3029}" type="datetimeFigureOut">
              <a:rPr lang="en-IE" smtClean="0"/>
              <a:t>13/03/2026</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C52E558D-A71E-4129-8701-B54E55FA3917}" type="slidenum">
              <a:rPr lang="en-IE" smtClean="0"/>
              <a:t>‹#›</a:t>
            </a:fld>
            <a:endParaRPr lang="en-IE"/>
          </a:p>
        </p:txBody>
      </p:sp>
    </p:spTree>
    <p:extLst>
      <p:ext uri="{BB962C8B-B14F-4D97-AF65-F5344CB8AC3E}">
        <p14:creationId xmlns:p14="http://schemas.microsoft.com/office/powerpoint/2010/main" val="2465282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8ECB995-5920-4AE9-9D41-5AECAA8A3029}" type="datetimeFigureOut">
              <a:rPr lang="en-IE" smtClean="0"/>
              <a:t>13/03/2026</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C52E558D-A71E-4129-8701-B54E55FA3917}" type="slidenum">
              <a:rPr lang="en-IE" smtClean="0"/>
              <a:t>‹#›</a:t>
            </a:fld>
            <a:endParaRPr lang="en-IE"/>
          </a:p>
        </p:txBody>
      </p:sp>
    </p:spTree>
    <p:extLst>
      <p:ext uri="{BB962C8B-B14F-4D97-AF65-F5344CB8AC3E}">
        <p14:creationId xmlns:p14="http://schemas.microsoft.com/office/powerpoint/2010/main" val="461416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8ECB995-5920-4AE9-9D41-5AECAA8A3029}" type="datetimeFigureOut">
              <a:rPr lang="en-IE" smtClean="0"/>
              <a:t>13/03/2026</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C52E558D-A71E-4129-8701-B54E55FA3917}" type="slidenum">
              <a:rPr lang="en-IE" smtClean="0"/>
              <a:t>‹#›</a:t>
            </a:fld>
            <a:endParaRPr lang="en-IE"/>
          </a:p>
        </p:txBody>
      </p:sp>
    </p:spTree>
    <p:extLst>
      <p:ext uri="{BB962C8B-B14F-4D97-AF65-F5344CB8AC3E}">
        <p14:creationId xmlns:p14="http://schemas.microsoft.com/office/powerpoint/2010/main" val="1711804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ECB995-5920-4AE9-9D41-5AECAA8A3029}" type="datetimeFigureOut">
              <a:rPr lang="en-IE" smtClean="0"/>
              <a:t>13/03/2026</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C52E558D-A71E-4129-8701-B54E55FA3917}" type="slidenum">
              <a:rPr lang="en-IE" smtClean="0"/>
              <a:t>‹#›</a:t>
            </a:fld>
            <a:endParaRPr lang="en-IE"/>
          </a:p>
        </p:txBody>
      </p:sp>
    </p:spTree>
    <p:extLst>
      <p:ext uri="{BB962C8B-B14F-4D97-AF65-F5344CB8AC3E}">
        <p14:creationId xmlns:p14="http://schemas.microsoft.com/office/powerpoint/2010/main" val="569492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8ECB995-5920-4AE9-9D41-5AECAA8A3029}" type="datetimeFigureOut">
              <a:rPr lang="en-IE" smtClean="0"/>
              <a:t>13/03/2026</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C52E558D-A71E-4129-8701-B54E55FA3917}" type="slidenum">
              <a:rPr lang="en-IE" smtClean="0"/>
              <a:t>‹#›</a:t>
            </a:fld>
            <a:endParaRPr lang="en-IE"/>
          </a:p>
        </p:txBody>
      </p:sp>
    </p:spTree>
    <p:extLst>
      <p:ext uri="{BB962C8B-B14F-4D97-AF65-F5344CB8AC3E}">
        <p14:creationId xmlns:p14="http://schemas.microsoft.com/office/powerpoint/2010/main" val="2299469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8ECB995-5920-4AE9-9D41-5AECAA8A3029}" type="datetimeFigureOut">
              <a:rPr lang="en-IE" smtClean="0"/>
              <a:t>13/03/2026</a:t>
            </a:fld>
            <a:endParaRPr lang="en-IE"/>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2E558D-A71E-4129-8701-B54E55FA3917}" type="slidenum">
              <a:rPr lang="en-IE" smtClean="0"/>
              <a:t>‹#›</a:t>
            </a:fld>
            <a:endParaRPr lang="en-IE"/>
          </a:p>
        </p:txBody>
      </p:sp>
    </p:spTree>
    <p:extLst>
      <p:ext uri="{BB962C8B-B14F-4D97-AF65-F5344CB8AC3E}">
        <p14:creationId xmlns:p14="http://schemas.microsoft.com/office/powerpoint/2010/main" val="1764926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ECB995-5920-4AE9-9D41-5AECAA8A3029}" type="datetimeFigureOut">
              <a:rPr lang="en-IE" smtClean="0"/>
              <a:t>13/03/2026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C52E558D-A71E-4129-8701-B54E55FA3917}" type="slidenum">
              <a:rPr lang="en-IE" smtClean="0"/>
              <a:t>‹#›</a:t>
            </a:fld>
            <a:endParaRPr lang="en-IE"/>
          </a:p>
        </p:txBody>
      </p:sp>
    </p:spTree>
    <p:extLst>
      <p:ext uri="{BB962C8B-B14F-4D97-AF65-F5344CB8AC3E}">
        <p14:creationId xmlns:p14="http://schemas.microsoft.com/office/powerpoint/2010/main" val="1919629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ECB995-5920-4AE9-9D41-5AECAA8A3029}" type="datetimeFigureOut">
              <a:rPr lang="en-IE" smtClean="0"/>
              <a:t>13/03/2026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C52E558D-A71E-4129-8701-B54E55FA3917}" type="slidenum">
              <a:rPr lang="en-IE" smtClean="0"/>
              <a:t>‹#›</a:t>
            </a:fld>
            <a:endParaRPr lang="en-IE"/>
          </a:p>
        </p:txBody>
      </p:sp>
    </p:spTree>
    <p:extLst>
      <p:ext uri="{BB962C8B-B14F-4D97-AF65-F5344CB8AC3E}">
        <p14:creationId xmlns:p14="http://schemas.microsoft.com/office/powerpoint/2010/main" val="926068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58ECB995-5920-4AE9-9D41-5AECAA8A3029}" type="datetimeFigureOut">
              <a:rPr lang="en-IE" smtClean="0"/>
              <a:t>13/03/2026</a:t>
            </a:fld>
            <a:endParaRPr lang="en-IE"/>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IE"/>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C52E558D-A71E-4129-8701-B54E55FA3917}" type="slidenum">
              <a:rPr lang="en-IE" smtClean="0"/>
              <a:t>‹#›</a:t>
            </a:fld>
            <a:endParaRPr lang="en-IE"/>
          </a:p>
        </p:txBody>
      </p:sp>
    </p:spTree>
    <p:extLst>
      <p:ext uri="{BB962C8B-B14F-4D97-AF65-F5344CB8AC3E}">
        <p14:creationId xmlns:p14="http://schemas.microsoft.com/office/powerpoint/2010/main" val="326317160"/>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instagram.com/ncicareers/" TargetMode="External"/><Relationship Id="rId2" Type="http://schemas.openxmlformats.org/officeDocument/2006/relationships/hyperlink" Target="https://www.linkedin.com/school/national-college-of-ireland/" TargetMode="External"/><Relationship Id="rId1" Type="http://schemas.openxmlformats.org/officeDocument/2006/relationships/slideLayout" Target="../slideLayouts/slideLayout2.xml"/><Relationship Id="rId4" Type="http://schemas.openxmlformats.org/officeDocument/2006/relationships/hyperlink" Target="https://www.facebook.com/ncicareersandopportunitie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E" dirty="0">
                <a:latin typeface="Calibri" panose="020F0502020204030204" pitchFamily="34" charset="0"/>
                <a:cs typeface="Calibri" panose="020F0502020204030204" pitchFamily="34" charset="0"/>
              </a:rPr>
              <a:t>4</a:t>
            </a:r>
            <a:r>
              <a:rPr lang="en-IE" baseline="30000" dirty="0">
                <a:latin typeface="Calibri" panose="020F0502020204030204" pitchFamily="34" charset="0"/>
                <a:cs typeface="Calibri" panose="020F0502020204030204" pitchFamily="34" charset="0"/>
              </a:rPr>
              <a:t>th</a:t>
            </a:r>
            <a:r>
              <a:rPr lang="en-IE" dirty="0">
                <a:latin typeface="Calibri" panose="020F0502020204030204" pitchFamily="34" charset="0"/>
                <a:cs typeface="Calibri" panose="020F0502020204030204" pitchFamily="34" charset="0"/>
              </a:rPr>
              <a:t> Year Project</a:t>
            </a:r>
          </a:p>
        </p:txBody>
      </p:sp>
      <p:sp>
        <p:nvSpPr>
          <p:cNvPr id="3" name="Subtitle 2"/>
          <p:cNvSpPr>
            <a:spLocks noGrp="1"/>
          </p:cNvSpPr>
          <p:nvPr>
            <p:ph type="subTitle" idx="1"/>
          </p:nvPr>
        </p:nvSpPr>
        <p:spPr/>
        <p:txBody>
          <a:bodyPr/>
          <a:lstStyle/>
          <a:p>
            <a:r>
              <a:rPr lang="en-IE" dirty="0">
                <a:latin typeface="Calibri" panose="020F0502020204030204" pitchFamily="34" charset="0"/>
                <a:cs typeface="Calibri" panose="020F0502020204030204" pitchFamily="34" charset="0"/>
              </a:rPr>
              <a:t>Preparation for Final Presentation Submission</a:t>
            </a:r>
          </a:p>
        </p:txBody>
      </p:sp>
    </p:spTree>
    <p:extLst>
      <p:ext uri="{BB962C8B-B14F-4D97-AF65-F5344CB8AC3E}">
        <p14:creationId xmlns:p14="http://schemas.microsoft.com/office/powerpoint/2010/main" val="1428375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latin typeface="Calibri" panose="020F0502020204030204" pitchFamily="34" charset="0"/>
                <a:cs typeface="Calibri" panose="020F0502020204030204" pitchFamily="34" charset="0"/>
              </a:rPr>
              <a:t>Agenda</a:t>
            </a:r>
          </a:p>
        </p:txBody>
      </p:sp>
      <p:sp>
        <p:nvSpPr>
          <p:cNvPr id="3" name="Content Placeholder 2"/>
          <p:cNvSpPr>
            <a:spLocks noGrp="1"/>
          </p:cNvSpPr>
          <p:nvPr>
            <p:ph idx="1"/>
          </p:nvPr>
        </p:nvSpPr>
        <p:spPr/>
        <p:txBody>
          <a:bodyPr/>
          <a:lstStyle/>
          <a:p>
            <a:r>
              <a:rPr lang="en-IE" dirty="0">
                <a:solidFill>
                  <a:schemeClr val="tx1"/>
                </a:solidFill>
                <a:latin typeface="Calibri" panose="020F0502020204030204" pitchFamily="34" charset="0"/>
                <a:cs typeface="Calibri" panose="020F0502020204030204" pitchFamily="34" charset="0"/>
              </a:rPr>
              <a:t>Showcase</a:t>
            </a:r>
          </a:p>
          <a:p>
            <a:r>
              <a:rPr lang="en-IE" dirty="0">
                <a:solidFill>
                  <a:schemeClr val="tx1"/>
                </a:solidFill>
                <a:latin typeface="Calibri" panose="020F0502020204030204" pitchFamily="34" charset="0"/>
                <a:cs typeface="Calibri" panose="020F0502020204030204" pitchFamily="34" charset="0"/>
              </a:rPr>
              <a:t>Posters</a:t>
            </a:r>
          </a:p>
          <a:p>
            <a:r>
              <a:rPr lang="en-IE" dirty="0">
                <a:solidFill>
                  <a:schemeClr val="tx1"/>
                </a:solidFill>
                <a:latin typeface="Calibri" panose="020F0502020204030204" pitchFamily="34" charset="0"/>
                <a:cs typeface="Calibri" panose="020F0502020204030204" pitchFamily="34" charset="0"/>
              </a:rPr>
              <a:t>Presentation, Demonstration &amp; Q &amp; A</a:t>
            </a:r>
          </a:p>
          <a:p>
            <a:endParaRPr lang="en-IE" dirty="0">
              <a:solidFill>
                <a:schemeClr val="tx1"/>
              </a:solidFill>
              <a:latin typeface="Calibri" panose="020F0502020204030204" pitchFamily="34" charset="0"/>
              <a:cs typeface="Calibri" panose="020F0502020204030204" pitchFamily="34" charset="0"/>
            </a:endParaRPr>
          </a:p>
          <a:p>
            <a:endParaRPr lang="en-IE"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9400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Showcase – What is your Role?</a:t>
            </a:r>
            <a:br>
              <a:rPr lang="en-IE" dirty="0"/>
            </a:br>
            <a:r>
              <a:rPr lang="en-IE" dirty="0"/>
              <a:t>Before May 27</a:t>
            </a:r>
            <a:r>
              <a:rPr lang="en-IE" baseline="30000" dirty="0"/>
              <a:t>th</a:t>
            </a:r>
            <a:r>
              <a:rPr lang="en-IE" dirty="0"/>
              <a:t> :</a:t>
            </a:r>
            <a:endParaRPr lang="en-IE" dirty="0">
              <a:solidFill>
                <a:srgbClr val="00B0F0"/>
              </a:solidFill>
            </a:endParaRPr>
          </a:p>
        </p:txBody>
      </p:sp>
      <p:sp>
        <p:nvSpPr>
          <p:cNvPr id="3" name="Content Placeholder 2"/>
          <p:cNvSpPr>
            <a:spLocks noGrp="1"/>
          </p:cNvSpPr>
          <p:nvPr>
            <p:ph idx="1"/>
          </p:nvPr>
        </p:nvSpPr>
        <p:spPr>
          <a:xfrm>
            <a:off x="1143000" y="2057399"/>
            <a:ext cx="10283823" cy="4278745"/>
          </a:xfrm>
        </p:spPr>
        <p:txBody>
          <a:bodyPr>
            <a:normAutofit fontScale="92500"/>
          </a:bodyPr>
          <a:lstStyle/>
          <a:p>
            <a:pPr marL="342900" indent="-342900"/>
            <a:r>
              <a:rPr lang="en-IE" dirty="0">
                <a:solidFill>
                  <a:schemeClr val="tx1"/>
                </a:solidFill>
              </a:rPr>
              <a:t>An invite will be sent in the coming weeks, please accept the invite to confirm your attendance</a:t>
            </a:r>
          </a:p>
          <a:p>
            <a:pPr marL="342900" indent="-342900"/>
            <a:r>
              <a:rPr lang="en-IE" dirty="0">
                <a:solidFill>
                  <a:schemeClr val="tx1"/>
                </a:solidFill>
              </a:rPr>
              <a:t>Git Repo’s – Give them a good tidy up and pin your project if you haven’t already</a:t>
            </a:r>
          </a:p>
          <a:p>
            <a:pPr marL="342900" indent="-342900"/>
            <a:r>
              <a:rPr lang="en-IE" dirty="0">
                <a:solidFill>
                  <a:schemeClr val="tx1"/>
                </a:solidFill>
              </a:rPr>
              <a:t>Update your LinkedIn Profiles</a:t>
            </a:r>
          </a:p>
          <a:p>
            <a:pPr marL="342900" indent="-342900"/>
            <a:r>
              <a:rPr lang="en-IE" dirty="0">
                <a:solidFill>
                  <a:schemeClr val="tx1"/>
                </a:solidFill>
                <a:latin typeface="Calibri" panose="020F0502020204030204" pitchFamily="34" charset="0"/>
                <a:cs typeface="Calibri" panose="020F0502020204030204" pitchFamily="34" charset="0"/>
              </a:rPr>
              <a:t>Once complete - Put your Showcase Poster on LinkedIn </a:t>
            </a:r>
            <a:r>
              <a:rPr lang="en-GB" dirty="0">
                <a:solidFill>
                  <a:schemeClr val="tx1"/>
                </a:solidFill>
                <a:latin typeface="Calibri" panose="020F0502020204030204" pitchFamily="34" charset="0"/>
                <a:cs typeface="Calibri" panose="020F0502020204030204" pitchFamily="34" charset="0"/>
              </a:rPr>
              <a:t>and Project prototype or image, if appropriate, onto LinkedIn Summary or into Education</a:t>
            </a:r>
            <a:endParaRPr lang="en-IE" dirty="0">
              <a:solidFill>
                <a:schemeClr val="tx1"/>
              </a:solidFill>
            </a:endParaRPr>
          </a:p>
          <a:p>
            <a:r>
              <a:rPr lang="en-GB" dirty="0">
                <a:solidFill>
                  <a:schemeClr val="tx1"/>
                </a:solidFill>
                <a:latin typeface="Calibri" panose="020F0502020204030204" pitchFamily="34" charset="0"/>
                <a:cs typeface="Calibri" panose="020F0502020204030204" pitchFamily="34" charset="0"/>
              </a:rPr>
              <a:t>Connect with faculty and each other </a:t>
            </a:r>
            <a:r>
              <a:rPr lang="en-GB">
                <a:solidFill>
                  <a:schemeClr val="tx1"/>
                </a:solidFill>
                <a:latin typeface="Calibri" panose="020F0502020204030204" pitchFamily="34" charset="0"/>
                <a:cs typeface="Calibri" panose="020F0502020204030204" pitchFamily="34" charset="0"/>
              </a:rPr>
              <a:t>on LinkedIn</a:t>
            </a:r>
          </a:p>
          <a:p>
            <a:r>
              <a:rPr lang="en-GB" dirty="0">
                <a:solidFill>
                  <a:schemeClr val="tx1"/>
                </a:solidFill>
                <a:latin typeface="Calibri" panose="020F0502020204030204" pitchFamily="34" charset="0"/>
                <a:cs typeface="Calibri" panose="020F0502020204030204" pitchFamily="34" charset="0"/>
              </a:rPr>
              <a:t>Follow NCI on LinkedIn </a:t>
            </a:r>
            <a:r>
              <a:rPr lang="en-GB" u="sng" dirty="0">
                <a:solidFill>
                  <a:schemeClr val="tx1"/>
                </a:solidFill>
                <a:latin typeface="Calibri" panose="020F0502020204030204" pitchFamily="34" charset="0"/>
                <a:cs typeface="Calibri" panose="020F0502020204030204" pitchFamily="34" charset="0"/>
                <a:hlinkClick r:id="rId2"/>
              </a:rPr>
              <a:t>https://www.linkedin.com/school/national-college-of-ireland/</a:t>
            </a:r>
            <a:endParaRPr lang="en-IE" dirty="0">
              <a:solidFill>
                <a:schemeClr val="tx1"/>
              </a:solidFill>
              <a:latin typeface="Calibri" panose="020F0502020204030204" pitchFamily="34" charset="0"/>
              <a:cs typeface="Calibri" panose="020F0502020204030204" pitchFamily="34" charset="0"/>
            </a:endParaRPr>
          </a:p>
          <a:p>
            <a:r>
              <a:rPr lang="en-GB" dirty="0">
                <a:solidFill>
                  <a:schemeClr val="tx1"/>
                </a:solidFill>
                <a:latin typeface="Calibri" panose="020F0502020204030204" pitchFamily="34" charset="0"/>
                <a:cs typeface="Calibri" panose="020F0502020204030204" pitchFamily="34" charset="0"/>
              </a:rPr>
              <a:t>Follow NCI Careers on Instagram </a:t>
            </a:r>
            <a:r>
              <a:rPr lang="en-GB" u="sng" dirty="0">
                <a:solidFill>
                  <a:schemeClr val="tx1"/>
                </a:solidFill>
                <a:latin typeface="Calibri" panose="020F0502020204030204" pitchFamily="34" charset="0"/>
                <a:cs typeface="Calibri" panose="020F0502020204030204" pitchFamily="34" charset="0"/>
                <a:hlinkClick r:id="rId3"/>
              </a:rPr>
              <a:t>https://www.instagram.com/ncicareers/</a:t>
            </a:r>
            <a:endParaRPr lang="en-IE" dirty="0">
              <a:solidFill>
                <a:schemeClr val="tx1"/>
              </a:solidFill>
              <a:latin typeface="Calibri" panose="020F0502020204030204" pitchFamily="34" charset="0"/>
              <a:cs typeface="Calibri" panose="020F0502020204030204" pitchFamily="34" charset="0"/>
            </a:endParaRPr>
          </a:p>
          <a:p>
            <a:r>
              <a:rPr lang="en-GB" dirty="0">
                <a:solidFill>
                  <a:schemeClr val="tx1"/>
                </a:solidFill>
                <a:latin typeface="Calibri" panose="020F0502020204030204" pitchFamily="34" charset="0"/>
                <a:cs typeface="Calibri" panose="020F0502020204030204" pitchFamily="34" charset="0"/>
              </a:rPr>
              <a:t>Follow NCI Careers on Facebook </a:t>
            </a:r>
            <a:r>
              <a:rPr lang="en-GB" u="sng" dirty="0">
                <a:solidFill>
                  <a:schemeClr val="tx1"/>
                </a:solidFill>
                <a:latin typeface="Calibri" panose="020F0502020204030204" pitchFamily="34" charset="0"/>
                <a:cs typeface="Calibri" panose="020F0502020204030204" pitchFamily="34" charset="0"/>
                <a:hlinkClick r:id="rId4"/>
              </a:rPr>
              <a:t>https://www.facebook.com/ncicareersandopportunities/</a:t>
            </a:r>
            <a:endParaRPr lang="en-IE" dirty="0">
              <a:solidFill>
                <a:schemeClr val="tx1"/>
              </a:solidFill>
              <a:latin typeface="Calibri" panose="020F0502020204030204" pitchFamily="34" charset="0"/>
              <a:cs typeface="Calibri" panose="020F0502020204030204" pitchFamily="34" charset="0"/>
            </a:endParaRPr>
          </a:p>
          <a:p>
            <a:pPr marL="342900" indent="-342900"/>
            <a:endParaRPr lang="en-IE" dirty="0">
              <a:solidFill>
                <a:schemeClr val="tx1"/>
              </a:solidFill>
              <a:latin typeface="Calibri" panose="020F0502020204030204" pitchFamily="34" charset="0"/>
              <a:cs typeface="Calibri" panose="020F0502020204030204" pitchFamily="34" charset="0"/>
            </a:endParaRPr>
          </a:p>
          <a:p>
            <a:pPr marL="571500" lvl="1" indent="-342900"/>
            <a:endParaRPr lang="en-IE" dirty="0">
              <a:solidFill>
                <a:schemeClr val="tx1"/>
              </a:solidFill>
            </a:endParaRPr>
          </a:p>
          <a:p>
            <a:pPr marL="571500" lvl="1" indent="-342900"/>
            <a:endParaRPr lang="en-IE" dirty="0">
              <a:solidFill>
                <a:schemeClr val="tx1"/>
              </a:solidFill>
            </a:endParaRPr>
          </a:p>
          <a:p>
            <a:endParaRPr lang="en-IE" dirty="0"/>
          </a:p>
          <a:p>
            <a:endParaRPr lang="en-IE" dirty="0"/>
          </a:p>
        </p:txBody>
      </p:sp>
    </p:spTree>
    <p:extLst>
      <p:ext uri="{BB962C8B-B14F-4D97-AF65-F5344CB8AC3E}">
        <p14:creationId xmlns:p14="http://schemas.microsoft.com/office/powerpoint/2010/main" val="4019315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latin typeface="Calibri" panose="020F0502020204030204" pitchFamily="34" charset="0"/>
                <a:cs typeface="Calibri" panose="020F0502020204030204" pitchFamily="34" charset="0"/>
              </a:rPr>
              <a:t>Week of Showcase - Getting noticed on Social Media</a:t>
            </a:r>
            <a:endParaRPr lang="en-IE"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143000" y="2057399"/>
            <a:ext cx="10283823" cy="4278745"/>
          </a:xfrm>
        </p:spPr>
        <p:txBody>
          <a:bodyPr>
            <a:normAutofit/>
          </a:bodyPr>
          <a:lstStyle/>
          <a:p>
            <a:r>
              <a:rPr lang="en-GB" dirty="0">
                <a:solidFill>
                  <a:schemeClr val="tx1"/>
                </a:solidFill>
                <a:latin typeface="Calibri" panose="020F0502020204030204" pitchFamily="34" charset="0"/>
                <a:cs typeface="Calibri" panose="020F0502020204030204" pitchFamily="34" charset="0"/>
              </a:rPr>
              <a:t>We will be sharing the Sway with 2000+ employers. </a:t>
            </a:r>
          </a:p>
          <a:p>
            <a:r>
              <a:rPr lang="en-GB" dirty="0">
                <a:solidFill>
                  <a:schemeClr val="tx1"/>
                </a:solidFill>
                <a:latin typeface="Calibri" panose="020F0502020204030204" pitchFamily="34" charset="0"/>
                <a:cs typeface="Calibri" panose="020F0502020204030204" pitchFamily="34" charset="0"/>
              </a:rPr>
              <a:t>Actively engage on all platforms by liking, posting comments, resharing, retweeting notifications, videos about the Showcase.</a:t>
            </a:r>
            <a:endParaRPr lang="en-IE" dirty="0">
              <a:solidFill>
                <a:schemeClr val="tx1"/>
              </a:solidFill>
              <a:latin typeface="Calibri" panose="020F0502020204030204" pitchFamily="34" charset="0"/>
              <a:cs typeface="Calibri" panose="020F0502020204030204" pitchFamily="34" charset="0"/>
            </a:endParaRPr>
          </a:p>
          <a:p>
            <a:r>
              <a:rPr lang="en-GB" dirty="0">
                <a:solidFill>
                  <a:schemeClr val="tx1"/>
                </a:solidFill>
                <a:latin typeface="Calibri" panose="020F0502020204030204" pitchFamily="34" charset="0"/>
                <a:cs typeface="Calibri" panose="020F0502020204030204" pitchFamily="34" charset="0"/>
              </a:rPr>
              <a:t>Congratulate your classmates on their achievements</a:t>
            </a:r>
            <a:endParaRPr lang="en-IE" dirty="0">
              <a:solidFill>
                <a:schemeClr val="tx1"/>
              </a:solidFill>
              <a:latin typeface="Calibri" panose="020F0502020204030204" pitchFamily="34" charset="0"/>
              <a:cs typeface="Calibri" panose="020F0502020204030204" pitchFamily="34" charset="0"/>
            </a:endParaRPr>
          </a:p>
          <a:p>
            <a:r>
              <a:rPr lang="en-GB" dirty="0">
                <a:solidFill>
                  <a:schemeClr val="tx1"/>
                </a:solidFill>
                <a:latin typeface="Calibri" panose="020F0502020204030204" pitchFamily="34" charset="0"/>
                <a:cs typeface="Calibri" panose="020F0502020204030204" pitchFamily="34" charset="0"/>
              </a:rPr>
              <a:t>Share your project and showcase with your network.</a:t>
            </a:r>
            <a:endParaRPr lang="en-IE" dirty="0">
              <a:solidFill>
                <a:schemeClr val="tx1"/>
              </a:solidFill>
              <a:latin typeface="Calibri" panose="020F0502020204030204" pitchFamily="34" charset="0"/>
              <a:cs typeface="Calibri" panose="020F0502020204030204" pitchFamily="34" charset="0"/>
            </a:endParaRPr>
          </a:p>
          <a:p>
            <a:r>
              <a:rPr lang="en-GB" b="1" dirty="0">
                <a:solidFill>
                  <a:schemeClr val="tx1"/>
                </a:solidFill>
                <a:latin typeface="Calibri" panose="020F0502020204030204" pitchFamily="34" charset="0"/>
                <a:cs typeface="Calibri" panose="020F0502020204030204" pitchFamily="34" charset="0"/>
              </a:rPr>
              <a:t>May 27</a:t>
            </a:r>
            <a:r>
              <a:rPr lang="en-GB" b="1" baseline="30000" dirty="0">
                <a:solidFill>
                  <a:schemeClr val="tx1"/>
                </a:solidFill>
                <a:latin typeface="Calibri" panose="020F0502020204030204" pitchFamily="34" charset="0"/>
                <a:cs typeface="Calibri" panose="020F0502020204030204" pitchFamily="34" charset="0"/>
              </a:rPr>
              <a:t>th</a:t>
            </a:r>
            <a:r>
              <a:rPr lang="en-GB" b="1" dirty="0">
                <a:solidFill>
                  <a:schemeClr val="tx1"/>
                </a:solidFill>
                <a:latin typeface="Calibri" panose="020F0502020204030204" pitchFamily="34" charset="0"/>
                <a:cs typeface="Calibri" panose="020F0502020204030204" pitchFamily="34" charset="0"/>
              </a:rPr>
              <a:t> </a:t>
            </a:r>
            <a:r>
              <a:rPr lang="en-GB" dirty="0">
                <a:solidFill>
                  <a:schemeClr val="tx1"/>
                </a:solidFill>
                <a:latin typeface="Calibri" panose="020F0502020204030204" pitchFamily="34" charset="0"/>
                <a:cs typeface="Calibri" panose="020F0502020204030204" pitchFamily="34" charset="0"/>
              </a:rPr>
              <a:t>Attend showcase on campus for the exhibition and award ceremony</a:t>
            </a:r>
            <a:endParaRPr lang="en-IE" b="1" dirty="0">
              <a:solidFill>
                <a:schemeClr val="tx1"/>
              </a:solidFill>
              <a:latin typeface="Calibri" panose="020F0502020204030204" pitchFamily="34" charset="0"/>
              <a:cs typeface="Calibri" panose="020F0502020204030204" pitchFamily="34" charset="0"/>
            </a:endParaRPr>
          </a:p>
          <a:p>
            <a:pPr marL="45720" indent="0">
              <a:buNone/>
            </a:pPr>
            <a:endParaRPr lang="en-IE" dirty="0">
              <a:solidFill>
                <a:schemeClr val="tx1"/>
              </a:solidFill>
            </a:endParaRPr>
          </a:p>
          <a:p>
            <a:pPr marL="571500" lvl="1" indent="-342900"/>
            <a:endParaRPr lang="en-IE" dirty="0">
              <a:solidFill>
                <a:schemeClr val="tx1"/>
              </a:solidFill>
            </a:endParaRPr>
          </a:p>
          <a:p>
            <a:endParaRPr lang="en-IE" dirty="0"/>
          </a:p>
          <a:p>
            <a:endParaRPr lang="en-IE" dirty="0"/>
          </a:p>
        </p:txBody>
      </p:sp>
    </p:spTree>
    <p:extLst>
      <p:ext uri="{BB962C8B-B14F-4D97-AF65-F5344CB8AC3E}">
        <p14:creationId xmlns:p14="http://schemas.microsoft.com/office/powerpoint/2010/main" val="3873301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Showcase Poster</a:t>
            </a:r>
          </a:p>
        </p:txBody>
      </p:sp>
      <p:sp>
        <p:nvSpPr>
          <p:cNvPr id="3" name="Content Placeholder 2"/>
          <p:cNvSpPr>
            <a:spLocks noGrp="1"/>
          </p:cNvSpPr>
          <p:nvPr>
            <p:ph idx="1"/>
          </p:nvPr>
        </p:nvSpPr>
        <p:spPr>
          <a:xfrm>
            <a:off x="1173018" y="2214418"/>
            <a:ext cx="10283823" cy="4010892"/>
          </a:xfrm>
        </p:spPr>
        <p:txBody>
          <a:bodyPr>
            <a:normAutofit/>
          </a:bodyPr>
          <a:lstStyle/>
          <a:p>
            <a:pPr marL="342900" indent="-342900"/>
            <a:r>
              <a:rPr lang="en-IE" dirty="0">
                <a:solidFill>
                  <a:schemeClr val="tx1"/>
                </a:solidFill>
              </a:rPr>
              <a:t>5% of the project mark has been allocated to Showcase related deliverables</a:t>
            </a:r>
          </a:p>
          <a:p>
            <a:pPr marL="342900" indent="-342900"/>
            <a:r>
              <a:rPr lang="en-IE" dirty="0">
                <a:solidFill>
                  <a:schemeClr val="tx1"/>
                </a:solidFill>
              </a:rPr>
              <a:t>To receive the marks </a:t>
            </a:r>
            <a:r>
              <a:rPr lang="en-IE" dirty="0" err="1">
                <a:solidFill>
                  <a:schemeClr val="tx1"/>
                </a:solidFill>
              </a:rPr>
              <a:t>assocaiated</a:t>
            </a:r>
            <a:r>
              <a:rPr lang="en-IE" dirty="0">
                <a:solidFill>
                  <a:schemeClr val="tx1"/>
                </a:solidFill>
              </a:rPr>
              <a:t> with the Profile and Poster, you must attend the showcase</a:t>
            </a:r>
          </a:p>
          <a:p>
            <a:pPr marL="342900" indent="-342900"/>
            <a:r>
              <a:rPr lang="en-IE" dirty="0">
                <a:solidFill>
                  <a:schemeClr val="tx1"/>
                </a:solidFill>
              </a:rPr>
              <a:t>Poster Templates will be available on Moodle</a:t>
            </a:r>
          </a:p>
          <a:p>
            <a:pPr marL="342900" indent="-342900"/>
            <a:r>
              <a:rPr lang="en-IE" dirty="0">
                <a:solidFill>
                  <a:schemeClr val="tx1"/>
                </a:solidFill>
              </a:rPr>
              <a:t>Once completed, posters should be submitted via </a:t>
            </a:r>
            <a:r>
              <a:rPr lang="en-IE" dirty="0" err="1">
                <a:solidFill>
                  <a:schemeClr val="tx1"/>
                </a:solidFill>
              </a:rPr>
              <a:t>moodle</a:t>
            </a:r>
            <a:r>
              <a:rPr lang="en-IE" dirty="0">
                <a:solidFill>
                  <a:schemeClr val="tx1"/>
                </a:solidFill>
              </a:rPr>
              <a:t> and added to your LinkedIn profile for employers to view</a:t>
            </a:r>
          </a:p>
          <a:p>
            <a:pPr marL="342900" indent="-342900"/>
            <a:r>
              <a:rPr lang="en-IE" dirty="0">
                <a:solidFill>
                  <a:schemeClr val="tx1"/>
                </a:solidFill>
              </a:rPr>
              <a:t>This is your opportunity to highlight aspects of the project which could not be addressed on your showcase website profile</a:t>
            </a:r>
          </a:p>
          <a:p>
            <a:pPr marL="571500" lvl="1" indent="-342900"/>
            <a:endParaRPr lang="en-IE" dirty="0">
              <a:solidFill>
                <a:schemeClr val="tx1"/>
              </a:solidFill>
            </a:endParaRPr>
          </a:p>
          <a:p>
            <a:endParaRPr lang="en-IE" dirty="0"/>
          </a:p>
          <a:p>
            <a:endParaRPr lang="en-IE" dirty="0"/>
          </a:p>
        </p:txBody>
      </p:sp>
    </p:spTree>
    <p:extLst>
      <p:ext uri="{BB962C8B-B14F-4D97-AF65-F5344CB8AC3E}">
        <p14:creationId xmlns:p14="http://schemas.microsoft.com/office/powerpoint/2010/main" val="2687997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latin typeface="Calibri" panose="020F0502020204030204" pitchFamily="34" charset="0"/>
                <a:cs typeface="Calibri" panose="020F0502020204030204" pitchFamily="34" charset="0"/>
              </a:rPr>
              <a:t>Presentation Structure - BSHC</a:t>
            </a:r>
          </a:p>
        </p:txBody>
      </p:sp>
      <p:sp>
        <p:nvSpPr>
          <p:cNvPr id="3" name="Content Placeholder 2"/>
          <p:cNvSpPr>
            <a:spLocks noGrp="1"/>
          </p:cNvSpPr>
          <p:nvPr>
            <p:ph idx="1"/>
          </p:nvPr>
        </p:nvSpPr>
        <p:spPr>
          <a:xfrm>
            <a:off x="1173018" y="1810327"/>
            <a:ext cx="10283823" cy="4414983"/>
          </a:xfrm>
        </p:spPr>
        <p:txBody>
          <a:bodyPr>
            <a:normAutofit fontScale="85000" lnSpcReduction="20000"/>
          </a:bodyPr>
          <a:lstStyle/>
          <a:p>
            <a:pPr marL="342900" indent="-342900"/>
            <a:r>
              <a:rPr lang="en-IE" dirty="0">
                <a:solidFill>
                  <a:schemeClr val="tx1"/>
                </a:solidFill>
                <a:latin typeface="Calibri" panose="020F0502020204030204" pitchFamily="34" charset="0"/>
                <a:cs typeface="Calibri" panose="020F0502020204030204" pitchFamily="34" charset="0"/>
              </a:rPr>
              <a:t>Presentation of Slides – </a:t>
            </a:r>
            <a:r>
              <a:rPr lang="en-IE" b="1" dirty="0">
                <a:solidFill>
                  <a:schemeClr val="tx1"/>
                </a:solidFill>
                <a:latin typeface="Calibri" panose="020F0502020204030204" pitchFamily="34" charset="0"/>
                <a:cs typeface="Calibri" panose="020F0502020204030204" pitchFamily="34" charset="0"/>
              </a:rPr>
              <a:t>3 minutes</a:t>
            </a:r>
          </a:p>
          <a:p>
            <a:pPr marL="342900" indent="-342900"/>
            <a:r>
              <a:rPr lang="en-IE" dirty="0">
                <a:solidFill>
                  <a:schemeClr val="tx1"/>
                </a:solidFill>
                <a:latin typeface="Calibri" panose="020F0502020204030204" pitchFamily="34" charset="0"/>
                <a:cs typeface="Calibri" panose="020F0502020204030204" pitchFamily="34" charset="0"/>
              </a:rPr>
              <a:t>Slides should include the following:</a:t>
            </a:r>
          </a:p>
          <a:p>
            <a:pPr marL="571500" lvl="1" indent="-342900"/>
            <a:r>
              <a:rPr lang="en-IE" dirty="0">
                <a:solidFill>
                  <a:schemeClr val="tx1"/>
                </a:solidFill>
                <a:latin typeface="Calibri" panose="020F0502020204030204" pitchFamily="34" charset="0"/>
                <a:cs typeface="Calibri" panose="020F0502020204030204" pitchFamily="34" charset="0"/>
              </a:rPr>
              <a:t>Introduce yourself and your programme/specialisation</a:t>
            </a:r>
          </a:p>
          <a:p>
            <a:pPr marL="571500" lvl="1" indent="-342900"/>
            <a:r>
              <a:rPr lang="en-IE" b="1" dirty="0">
                <a:solidFill>
                  <a:schemeClr val="tx1"/>
                </a:solidFill>
                <a:latin typeface="Calibri" panose="020F0502020204030204" pitchFamily="34" charset="0"/>
                <a:cs typeface="Calibri" panose="020F0502020204030204" pitchFamily="34" charset="0"/>
              </a:rPr>
              <a:t>Project Overview </a:t>
            </a:r>
            <a:r>
              <a:rPr lang="en-IE" dirty="0">
                <a:solidFill>
                  <a:schemeClr val="tx1"/>
                </a:solidFill>
                <a:latin typeface="Calibri" panose="020F0502020204030204" pitchFamily="34" charset="0"/>
                <a:cs typeface="Calibri" panose="020F0502020204030204" pitchFamily="34" charset="0"/>
              </a:rPr>
              <a:t>- What is it?  Who is it for?  What does it do/What problem does it address? How is it different to existing applications/research/analysis? (This will set the scene for difficulty and innovation sections of the rubric)</a:t>
            </a:r>
          </a:p>
          <a:p>
            <a:pPr marL="571500" lvl="1" indent="-342900"/>
            <a:r>
              <a:rPr lang="en-IE" b="1" dirty="0">
                <a:solidFill>
                  <a:schemeClr val="tx1"/>
                </a:solidFill>
                <a:latin typeface="Calibri" panose="020F0502020204030204" pitchFamily="34" charset="0"/>
                <a:cs typeface="Calibri" panose="020F0502020204030204" pitchFamily="34" charset="0"/>
              </a:rPr>
              <a:t>Technologies</a:t>
            </a:r>
            <a:r>
              <a:rPr lang="en-IE" dirty="0">
                <a:solidFill>
                  <a:schemeClr val="tx1"/>
                </a:solidFill>
                <a:latin typeface="Calibri" panose="020F0502020204030204" pitchFamily="34" charset="0"/>
                <a:cs typeface="Calibri" panose="020F0502020204030204" pitchFamily="34" charset="0"/>
              </a:rPr>
              <a:t> - Technologies used, high level architecture diagram to illustrate the structure of the system and how technologies work together, Main algorithms etc. (This will help to further address the difficulty, innovation and implementation sections of the rubric</a:t>
            </a:r>
            <a:r>
              <a:rPr lang="en-IE" b="1" dirty="0">
                <a:solidFill>
                  <a:schemeClr val="tx1"/>
                </a:solidFill>
                <a:latin typeface="Calibri" panose="020F0502020204030204" pitchFamily="34" charset="0"/>
                <a:cs typeface="Calibri" panose="020F0502020204030204" pitchFamily="34" charset="0"/>
              </a:rPr>
              <a:t>)</a:t>
            </a:r>
          </a:p>
          <a:p>
            <a:pPr marL="571500" lvl="1" indent="-342900"/>
            <a:r>
              <a:rPr lang="en-IE" b="1" dirty="0">
                <a:solidFill>
                  <a:schemeClr val="tx1"/>
                </a:solidFill>
                <a:latin typeface="Calibri" panose="020F0502020204030204" pitchFamily="34" charset="0"/>
                <a:cs typeface="Calibri" panose="020F0502020204030204" pitchFamily="34" charset="0"/>
              </a:rPr>
              <a:t>Testing</a:t>
            </a:r>
            <a:r>
              <a:rPr lang="en-IE" dirty="0">
                <a:solidFill>
                  <a:schemeClr val="tx1"/>
                </a:solidFill>
                <a:latin typeface="Calibri" panose="020F0502020204030204" pitchFamily="34" charset="0"/>
                <a:cs typeface="Calibri" panose="020F0502020204030204" pitchFamily="34" charset="0"/>
              </a:rPr>
              <a:t> - Outline the Testing Methodologies used and sign post the evidence of any testing completed</a:t>
            </a:r>
          </a:p>
          <a:p>
            <a:pPr marL="342900" indent="-342900"/>
            <a:r>
              <a:rPr lang="en-IE" dirty="0">
                <a:solidFill>
                  <a:schemeClr val="tx1"/>
                </a:solidFill>
                <a:latin typeface="Calibri" panose="020F0502020204030204" pitchFamily="34" charset="0"/>
                <a:cs typeface="Calibri" panose="020F0502020204030204" pitchFamily="34" charset="0"/>
              </a:rPr>
              <a:t>Demonstration – </a:t>
            </a:r>
            <a:r>
              <a:rPr lang="en-IE" b="1" dirty="0">
                <a:solidFill>
                  <a:schemeClr val="tx1"/>
                </a:solidFill>
                <a:latin typeface="Calibri" panose="020F0502020204030204" pitchFamily="34" charset="0"/>
                <a:cs typeface="Calibri" panose="020F0502020204030204" pitchFamily="34" charset="0"/>
              </a:rPr>
              <a:t>7 minutes </a:t>
            </a:r>
          </a:p>
          <a:p>
            <a:pPr marL="571500" lvl="1" indent="-342900"/>
            <a:r>
              <a:rPr lang="en-IE" dirty="0">
                <a:solidFill>
                  <a:schemeClr val="tx1"/>
                </a:solidFill>
                <a:latin typeface="Calibri" panose="020F0502020204030204" pitchFamily="34" charset="0"/>
                <a:cs typeface="Calibri" panose="020F0502020204030204" pitchFamily="34" charset="0"/>
              </a:rPr>
              <a:t>Demonstrate the core functionality of the application. Don’t waste time creating new accounts or demonstrating field validation on logins etc.  Say this is there but don’t demonstrate it unless asked.</a:t>
            </a:r>
          </a:p>
          <a:p>
            <a:pPr marL="342900" indent="-342900"/>
            <a:r>
              <a:rPr lang="en-IE" dirty="0">
                <a:solidFill>
                  <a:schemeClr val="tx1"/>
                </a:solidFill>
                <a:latin typeface="Calibri" panose="020F0502020204030204" pitchFamily="34" charset="0"/>
                <a:cs typeface="Calibri" panose="020F0502020204030204" pitchFamily="34" charset="0"/>
              </a:rPr>
              <a:t>Q &amp; A – </a:t>
            </a:r>
            <a:r>
              <a:rPr lang="en-IE" b="1" dirty="0">
                <a:solidFill>
                  <a:schemeClr val="tx1"/>
                </a:solidFill>
                <a:latin typeface="Calibri" panose="020F0502020204030204" pitchFamily="34" charset="0"/>
                <a:cs typeface="Calibri" panose="020F0502020204030204" pitchFamily="34" charset="0"/>
              </a:rPr>
              <a:t>10 minutes</a:t>
            </a:r>
            <a:r>
              <a:rPr lang="en-IE" dirty="0">
                <a:solidFill>
                  <a:schemeClr val="tx1"/>
                </a:solidFill>
                <a:latin typeface="Calibri" panose="020F0502020204030204" pitchFamily="34" charset="0"/>
                <a:cs typeface="Calibri" panose="020F0502020204030204" pitchFamily="34" charset="0"/>
              </a:rPr>
              <a:t>. </a:t>
            </a:r>
          </a:p>
          <a:p>
            <a:pPr marL="571500" lvl="1" indent="-342900"/>
            <a:r>
              <a:rPr lang="en-IE" dirty="0">
                <a:solidFill>
                  <a:schemeClr val="tx1"/>
                </a:solidFill>
                <a:latin typeface="Calibri" panose="020F0502020204030204" pitchFamily="34" charset="0"/>
                <a:cs typeface="Calibri" panose="020F0502020204030204" pitchFamily="34" charset="0"/>
              </a:rPr>
              <a:t>This will be a discussion of your code and implementation with the examiners where you will be asked to explain some aspects of your implementation and to answer examiners questions about it to demonstrate your own understanding of the code.</a:t>
            </a:r>
          </a:p>
          <a:p>
            <a:endParaRPr lang="en-IE" dirty="0">
              <a:latin typeface="Calibri" panose="020F0502020204030204" pitchFamily="34" charset="0"/>
              <a:cs typeface="Calibri" panose="020F0502020204030204" pitchFamily="34" charset="0"/>
            </a:endParaRPr>
          </a:p>
          <a:p>
            <a:endParaRPr lang="en-IE" dirty="0"/>
          </a:p>
        </p:txBody>
      </p:sp>
    </p:spTree>
    <p:extLst>
      <p:ext uri="{BB962C8B-B14F-4D97-AF65-F5344CB8AC3E}">
        <p14:creationId xmlns:p14="http://schemas.microsoft.com/office/powerpoint/2010/main" val="4139202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D76BF-619E-6DE7-F4DC-E131A6E74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924491-8D16-BB83-C816-8C1306CF1AD6}"/>
              </a:ext>
            </a:extLst>
          </p:cNvPr>
          <p:cNvSpPr>
            <a:spLocks noGrp="1"/>
          </p:cNvSpPr>
          <p:nvPr>
            <p:ph type="title"/>
          </p:nvPr>
        </p:nvSpPr>
        <p:spPr/>
        <p:txBody>
          <a:bodyPr/>
          <a:lstStyle/>
          <a:p>
            <a:r>
              <a:rPr lang="en-IE" dirty="0">
                <a:latin typeface="Calibri" panose="020F0502020204030204" pitchFamily="34" charset="0"/>
                <a:cs typeface="Calibri" panose="020F0502020204030204" pitchFamily="34" charset="0"/>
              </a:rPr>
              <a:t>Presentation Structure - DA</a:t>
            </a:r>
          </a:p>
        </p:txBody>
      </p:sp>
      <p:sp>
        <p:nvSpPr>
          <p:cNvPr id="3" name="Content Placeholder 2">
            <a:extLst>
              <a:ext uri="{FF2B5EF4-FFF2-40B4-BE49-F238E27FC236}">
                <a16:creationId xmlns:a16="http://schemas.microsoft.com/office/drawing/2014/main" id="{F388B80A-C43C-4918-7F3D-4302EDAAF447}"/>
              </a:ext>
            </a:extLst>
          </p:cNvPr>
          <p:cNvSpPr>
            <a:spLocks noGrp="1"/>
          </p:cNvSpPr>
          <p:nvPr>
            <p:ph idx="1"/>
          </p:nvPr>
        </p:nvSpPr>
        <p:spPr>
          <a:xfrm>
            <a:off x="1173018" y="1810327"/>
            <a:ext cx="10283823" cy="4414983"/>
          </a:xfrm>
        </p:spPr>
        <p:txBody>
          <a:bodyPr>
            <a:normAutofit fontScale="77500" lnSpcReduction="20000"/>
          </a:bodyPr>
          <a:lstStyle/>
          <a:p>
            <a:pPr marL="342900" indent="-342900"/>
            <a:r>
              <a:rPr lang="en-IE" dirty="0">
                <a:solidFill>
                  <a:schemeClr val="tx1"/>
                </a:solidFill>
                <a:latin typeface="Calibri" panose="020F0502020204030204" pitchFamily="34" charset="0"/>
                <a:cs typeface="Calibri" panose="020F0502020204030204" pitchFamily="34" charset="0"/>
              </a:rPr>
              <a:t>Presentation of Slides – </a:t>
            </a:r>
            <a:r>
              <a:rPr lang="en-IE" b="1" dirty="0">
                <a:solidFill>
                  <a:schemeClr val="tx1"/>
                </a:solidFill>
                <a:latin typeface="Calibri" panose="020F0502020204030204" pitchFamily="34" charset="0"/>
                <a:cs typeface="Calibri" panose="020F0502020204030204" pitchFamily="34" charset="0"/>
              </a:rPr>
              <a:t>6 minutes</a:t>
            </a:r>
          </a:p>
          <a:p>
            <a:pPr marL="342900" indent="-342900"/>
            <a:r>
              <a:rPr lang="en-IE" dirty="0">
                <a:solidFill>
                  <a:schemeClr val="tx1"/>
                </a:solidFill>
                <a:latin typeface="Calibri" panose="020F0502020204030204" pitchFamily="34" charset="0"/>
                <a:cs typeface="Calibri" panose="020F0502020204030204" pitchFamily="34" charset="0"/>
              </a:rPr>
              <a:t>Slides should include the following:</a:t>
            </a:r>
          </a:p>
          <a:p>
            <a:pPr marL="571500" lvl="1" indent="-342900"/>
            <a:r>
              <a:rPr lang="en-IE" dirty="0">
                <a:solidFill>
                  <a:schemeClr val="tx1"/>
                </a:solidFill>
                <a:latin typeface="Calibri" panose="020F0502020204030204" pitchFamily="34" charset="0"/>
                <a:cs typeface="Calibri" panose="020F0502020204030204" pitchFamily="34" charset="0"/>
              </a:rPr>
              <a:t>Introduce yourself, your project title, and your programme/specialisation</a:t>
            </a:r>
          </a:p>
          <a:p>
            <a:pPr marL="571500" lvl="1" indent="-342900"/>
            <a:r>
              <a:rPr lang="en-IE" b="1" dirty="0">
                <a:solidFill>
                  <a:schemeClr val="tx1"/>
                </a:solidFill>
                <a:latin typeface="Calibri" panose="020F0502020204030204" pitchFamily="34" charset="0"/>
                <a:cs typeface="Calibri" panose="020F0502020204030204" pitchFamily="34" charset="0"/>
              </a:rPr>
              <a:t>Project Overview </a:t>
            </a:r>
            <a:r>
              <a:rPr lang="en-IE" dirty="0">
                <a:solidFill>
                  <a:schemeClr val="tx1"/>
                </a:solidFill>
                <a:latin typeface="Calibri" panose="020F0502020204030204" pitchFamily="34" charset="0"/>
                <a:cs typeface="Calibri" panose="020F0502020204030204" pitchFamily="34" charset="0"/>
              </a:rPr>
              <a:t>- What is it?  Who is it for?  What does it do/What problem does it address? How is it different to existing applications/research/analysis? (This will set the scene for difficulty and innovation sections of the rubric) </a:t>
            </a:r>
          </a:p>
          <a:p>
            <a:pPr marL="571500" lvl="1" indent="-342900"/>
            <a:r>
              <a:rPr lang="en-IE" b="1" dirty="0">
                <a:solidFill>
                  <a:schemeClr val="tx1"/>
                </a:solidFill>
                <a:latin typeface="Calibri" panose="020F0502020204030204" pitchFamily="34" charset="0"/>
                <a:cs typeface="Calibri" panose="020F0502020204030204" pitchFamily="34" charset="0"/>
              </a:rPr>
              <a:t>Approach/Techniques/Technology Used  - </a:t>
            </a:r>
            <a:r>
              <a:rPr lang="en-IE" dirty="0">
                <a:solidFill>
                  <a:schemeClr val="tx1"/>
                </a:solidFill>
                <a:latin typeface="Calibri" panose="020F0502020204030204" pitchFamily="34" charset="0"/>
                <a:cs typeface="Calibri" panose="020F0502020204030204" pitchFamily="34" charset="0"/>
              </a:rPr>
              <a:t>Technologies and data analysis techniques used throughout the project and why. (This will help to further address the difficulty, innovation and implementation sections of the rubric)</a:t>
            </a:r>
          </a:p>
          <a:p>
            <a:pPr marL="571500" lvl="1" indent="-342900"/>
            <a:r>
              <a:rPr lang="en-IE" b="1" dirty="0">
                <a:solidFill>
                  <a:schemeClr val="tx1"/>
                </a:solidFill>
                <a:latin typeface="Calibri" panose="020F0502020204030204" pitchFamily="34" charset="0"/>
                <a:cs typeface="Calibri" panose="020F0502020204030204" pitchFamily="34" charset="0"/>
              </a:rPr>
              <a:t>Results</a:t>
            </a:r>
            <a:r>
              <a:rPr lang="en-IE" dirty="0">
                <a:solidFill>
                  <a:schemeClr val="tx1"/>
                </a:solidFill>
                <a:latin typeface="Calibri" panose="020F0502020204030204" pitchFamily="34" charset="0"/>
                <a:cs typeface="Calibri" panose="020F0502020204030204" pitchFamily="34" charset="0"/>
              </a:rPr>
              <a:t>  - Highlight the key results of your analysis using charts, diagrams etc. (this will help to address writing &amp; presentation of results) </a:t>
            </a:r>
          </a:p>
          <a:p>
            <a:pPr marL="571500" lvl="1" indent="-342900"/>
            <a:r>
              <a:rPr lang="en-IE" b="1" dirty="0">
                <a:solidFill>
                  <a:schemeClr val="tx1"/>
                </a:solidFill>
                <a:latin typeface="Calibri" panose="020F0502020204030204" pitchFamily="34" charset="0"/>
                <a:cs typeface="Calibri" panose="020F0502020204030204" pitchFamily="34" charset="0"/>
              </a:rPr>
              <a:t>Testing &amp; Evaluation </a:t>
            </a:r>
            <a:r>
              <a:rPr lang="en-IE" dirty="0">
                <a:solidFill>
                  <a:schemeClr val="tx1"/>
                </a:solidFill>
                <a:latin typeface="Calibri" panose="020F0502020204030204" pitchFamily="34" charset="0"/>
                <a:cs typeface="Calibri" panose="020F0502020204030204" pitchFamily="34" charset="0"/>
              </a:rPr>
              <a:t> - how did you test your analysis to ensure the validity of results? </a:t>
            </a:r>
          </a:p>
          <a:p>
            <a:pPr marL="342900" indent="-342900"/>
            <a:r>
              <a:rPr lang="en-IE" dirty="0">
                <a:solidFill>
                  <a:schemeClr val="tx1"/>
                </a:solidFill>
                <a:latin typeface="Calibri" panose="020F0502020204030204" pitchFamily="34" charset="0"/>
                <a:cs typeface="Calibri" panose="020F0502020204030204" pitchFamily="34" charset="0"/>
              </a:rPr>
              <a:t>Demonstration - </a:t>
            </a:r>
            <a:r>
              <a:rPr lang="en-IE" b="1" dirty="0">
                <a:solidFill>
                  <a:schemeClr val="tx1"/>
                </a:solidFill>
                <a:latin typeface="Calibri" panose="020F0502020204030204" pitchFamily="34" charset="0"/>
                <a:cs typeface="Calibri" panose="020F0502020204030204" pitchFamily="34" charset="0"/>
              </a:rPr>
              <a:t>4 minutes</a:t>
            </a:r>
          </a:p>
          <a:p>
            <a:pPr marL="571500" lvl="1" indent="-342900"/>
            <a:r>
              <a:rPr lang="en-IE" dirty="0">
                <a:solidFill>
                  <a:schemeClr val="tx1"/>
                </a:solidFill>
                <a:latin typeface="Calibri" panose="020F0502020204030204" pitchFamily="34" charset="0"/>
                <a:cs typeface="Calibri" panose="020F0502020204030204" pitchFamily="34" charset="0"/>
              </a:rPr>
              <a:t>Demonstrate your scripts running on the data. (this will help to address writing &amp; presentation of results, completeness and difficulty/skills)</a:t>
            </a:r>
          </a:p>
          <a:p>
            <a:pPr marL="342900" indent="-342900"/>
            <a:r>
              <a:rPr lang="en-IE" dirty="0">
                <a:solidFill>
                  <a:schemeClr val="tx1"/>
                </a:solidFill>
                <a:latin typeface="Calibri" panose="020F0502020204030204" pitchFamily="34" charset="0"/>
                <a:cs typeface="Calibri" panose="020F0502020204030204" pitchFamily="34" charset="0"/>
              </a:rPr>
              <a:t>Q &amp; A – </a:t>
            </a:r>
            <a:r>
              <a:rPr lang="en-IE" b="1" dirty="0">
                <a:solidFill>
                  <a:schemeClr val="tx1"/>
                </a:solidFill>
                <a:latin typeface="Calibri" panose="020F0502020204030204" pitchFamily="34" charset="0"/>
                <a:cs typeface="Calibri" panose="020F0502020204030204" pitchFamily="34" charset="0"/>
              </a:rPr>
              <a:t>10 minutes</a:t>
            </a:r>
            <a:r>
              <a:rPr lang="en-IE" dirty="0">
                <a:solidFill>
                  <a:schemeClr val="tx1"/>
                </a:solidFill>
                <a:latin typeface="Calibri" panose="020F0502020204030204" pitchFamily="34" charset="0"/>
                <a:cs typeface="Calibri" panose="020F0502020204030204" pitchFamily="34" charset="0"/>
              </a:rPr>
              <a:t>. </a:t>
            </a:r>
          </a:p>
          <a:p>
            <a:pPr marL="571500" lvl="1" indent="-342900"/>
            <a:r>
              <a:rPr lang="en-IE" dirty="0">
                <a:solidFill>
                  <a:schemeClr val="tx1"/>
                </a:solidFill>
                <a:latin typeface="Calibri" panose="020F0502020204030204" pitchFamily="34" charset="0"/>
                <a:cs typeface="Calibri" panose="020F0502020204030204" pitchFamily="34" charset="0"/>
              </a:rPr>
              <a:t>This will be a discussion of your work with the examiners where you will be asked to explain some aspects of your methodology and to answer examiners questions about it to demonstrate your own understanding of the analysis.</a:t>
            </a:r>
          </a:p>
          <a:p>
            <a:pPr marL="342900" indent="-342900"/>
            <a:endParaRPr lang="en-IE" dirty="0">
              <a:latin typeface="Calibri" panose="020F0502020204030204" pitchFamily="34" charset="0"/>
              <a:cs typeface="Calibri" panose="020F0502020204030204" pitchFamily="34" charset="0"/>
            </a:endParaRPr>
          </a:p>
          <a:p>
            <a:endParaRPr lang="en-IE" dirty="0"/>
          </a:p>
        </p:txBody>
      </p:sp>
    </p:spTree>
    <p:extLst>
      <p:ext uri="{BB962C8B-B14F-4D97-AF65-F5344CB8AC3E}">
        <p14:creationId xmlns:p14="http://schemas.microsoft.com/office/powerpoint/2010/main" val="2566853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latin typeface="Calibri" panose="020F0502020204030204" pitchFamily="34" charset="0"/>
                <a:cs typeface="Calibri" panose="020F0502020204030204" pitchFamily="34" charset="0"/>
              </a:rPr>
              <a:t>Presentation Structure - BA</a:t>
            </a:r>
          </a:p>
        </p:txBody>
      </p:sp>
      <p:sp>
        <p:nvSpPr>
          <p:cNvPr id="3" name="Content Placeholder 2"/>
          <p:cNvSpPr>
            <a:spLocks noGrp="1"/>
          </p:cNvSpPr>
          <p:nvPr>
            <p:ph idx="1"/>
          </p:nvPr>
        </p:nvSpPr>
        <p:spPr>
          <a:xfrm>
            <a:off x="1173018" y="1777042"/>
            <a:ext cx="10283823" cy="4448268"/>
          </a:xfrm>
        </p:spPr>
        <p:txBody>
          <a:bodyPr>
            <a:normAutofit fontScale="77500" lnSpcReduction="20000"/>
          </a:bodyPr>
          <a:lstStyle/>
          <a:p>
            <a:pPr marL="342900" indent="-342900"/>
            <a:r>
              <a:rPr lang="en-IE" dirty="0">
                <a:solidFill>
                  <a:schemeClr val="tx1"/>
                </a:solidFill>
                <a:latin typeface="Calibri" panose="020F0502020204030204" pitchFamily="34" charset="0"/>
                <a:cs typeface="Calibri" panose="020F0502020204030204" pitchFamily="34" charset="0"/>
              </a:rPr>
              <a:t>Presentation of Slides – </a:t>
            </a:r>
            <a:r>
              <a:rPr lang="en-IE" b="1" dirty="0">
                <a:solidFill>
                  <a:schemeClr val="tx1"/>
                </a:solidFill>
                <a:latin typeface="Calibri" panose="020F0502020204030204" pitchFamily="34" charset="0"/>
                <a:cs typeface="Calibri" panose="020F0502020204030204" pitchFamily="34" charset="0"/>
              </a:rPr>
              <a:t>7 minutes</a:t>
            </a:r>
          </a:p>
          <a:p>
            <a:pPr marL="342900" indent="-342900"/>
            <a:r>
              <a:rPr lang="en-IE" dirty="0">
                <a:solidFill>
                  <a:schemeClr val="tx1"/>
                </a:solidFill>
                <a:latin typeface="Calibri" panose="020F0502020204030204" pitchFamily="34" charset="0"/>
                <a:cs typeface="Calibri" panose="020F0502020204030204" pitchFamily="34" charset="0"/>
              </a:rPr>
              <a:t>Slides should include the following:</a:t>
            </a:r>
          </a:p>
          <a:p>
            <a:pPr marL="571500" lvl="1" indent="-342900"/>
            <a:r>
              <a:rPr lang="en-IE" b="1" dirty="0">
                <a:solidFill>
                  <a:schemeClr val="tx1"/>
                </a:solidFill>
                <a:latin typeface="Calibri" panose="020F0502020204030204" pitchFamily="34" charset="0"/>
                <a:cs typeface="Calibri" panose="020F0502020204030204" pitchFamily="34" charset="0"/>
              </a:rPr>
              <a:t>Introduction</a:t>
            </a:r>
            <a:r>
              <a:rPr lang="en-IE" dirty="0">
                <a:solidFill>
                  <a:schemeClr val="tx1"/>
                </a:solidFill>
                <a:latin typeface="Calibri" panose="020F0502020204030204" pitchFamily="34" charset="0"/>
                <a:cs typeface="Calibri" panose="020F0502020204030204" pitchFamily="34" charset="0"/>
              </a:rPr>
              <a:t> - Start with an introduction to you and your project. Introduce yourself, your course, specialisation and your project title.  (This will contribute to communication  aspect of your rubric)</a:t>
            </a:r>
          </a:p>
          <a:p>
            <a:pPr marL="571500" lvl="1" indent="-342900"/>
            <a:r>
              <a:rPr lang="en-IE" b="1" dirty="0">
                <a:solidFill>
                  <a:schemeClr val="tx1"/>
                </a:solidFill>
                <a:latin typeface="Calibri" panose="020F0502020204030204" pitchFamily="34" charset="0"/>
                <a:cs typeface="Calibri" panose="020F0502020204030204" pitchFamily="34" charset="0"/>
              </a:rPr>
              <a:t>Project Overview</a:t>
            </a:r>
            <a:r>
              <a:rPr lang="en-IE" dirty="0">
                <a:solidFill>
                  <a:schemeClr val="tx1"/>
                </a:solidFill>
                <a:latin typeface="Calibri" panose="020F0502020204030204" pitchFamily="34" charset="0"/>
                <a:cs typeface="Calibri" panose="020F0502020204030204" pitchFamily="34" charset="0"/>
              </a:rPr>
              <a:t>– What is it?  Who is it for?  What does it do/What problem does it address? How is it different to existing applications/research/analysis? (This will set the scene for difficulty and innovation sections of the rubric)</a:t>
            </a:r>
          </a:p>
          <a:p>
            <a:pPr marL="571500" lvl="1" indent="-342900"/>
            <a:r>
              <a:rPr lang="en-IE" b="1" dirty="0">
                <a:solidFill>
                  <a:schemeClr val="tx1"/>
                </a:solidFill>
                <a:latin typeface="Calibri" panose="020F0502020204030204" pitchFamily="34" charset="0"/>
                <a:cs typeface="Calibri" panose="020F0502020204030204" pitchFamily="34" charset="0"/>
              </a:rPr>
              <a:t>Approach/Techniques/Technology Used  - </a:t>
            </a:r>
            <a:r>
              <a:rPr lang="en-IE" dirty="0">
                <a:solidFill>
                  <a:schemeClr val="tx1"/>
                </a:solidFill>
                <a:latin typeface="Calibri" panose="020F0502020204030204" pitchFamily="34" charset="0"/>
                <a:cs typeface="Calibri" panose="020F0502020204030204" pitchFamily="34" charset="0"/>
              </a:rPr>
              <a:t>Technologies, requirements gathering activities and business analysis techniques used throughout the project and why. (This will help to further address the difficulty, innovation and writing and presentation of results sections of the rubric)</a:t>
            </a:r>
          </a:p>
          <a:p>
            <a:pPr marL="571500" lvl="1" indent="-342900"/>
            <a:r>
              <a:rPr lang="en-IE" b="1" dirty="0">
                <a:solidFill>
                  <a:schemeClr val="tx1"/>
                </a:solidFill>
                <a:latin typeface="Calibri" panose="020F0502020204030204" pitchFamily="34" charset="0"/>
                <a:cs typeface="Calibri" panose="020F0502020204030204" pitchFamily="34" charset="0"/>
              </a:rPr>
              <a:t>A walkthrough of your analysis </a:t>
            </a:r>
            <a:r>
              <a:rPr lang="en-IE" dirty="0">
                <a:solidFill>
                  <a:schemeClr val="tx1"/>
                </a:solidFill>
                <a:latin typeface="Calibri" panose="020F0502020204030204" pitchFamily="34" charset="0"/>
                <a:cs typeface="Calibri" panose="020F0502020204030204" pitchFamily="34" charset="0"/>
              </a:rPr>
              <a:t>- talk through the </a:t>
            </a:r>
            <a:r>
              <a:rPr lang="en-IE" b="1" dirty="0">
                <a:solidFill>
                  <a:schemeClr val="tx1"/>
                </a:solidFill>
                <a:latin typeface="Calibri" panose="020F0502020204030204" pitchFamily="34" charset="0"/>
                <a:cs typeface="Calibri" panose="020F0502020204030204" pitchFamily="34" charset="0"/>
              </a:rPr>
              <a:t>most challenging aspect</a:t>
            </a:r>
            <a:r>
              <a:rPr lang="en-IE" dirty="0">
                <a:solidFill>
                  <a:schemeClr val="tx1"/>
                </a:solidFill>
                <a:latin typeface="Calibri" panose="020F0502020204030204" pitchFamily="34" charset="0"/>
                <a:cs typeface="Calibri" panose="020F0502020204030204" pitchFamily="34" charset="0"/>
              </a:rPr>
              <a:t> of your analysis </a:t>
            </a:r>
            <a:endParaRPr lang="en-IE" dirty="0">
              <a:solidFill>
                <a:schemeClr val="tx1"/>
              </a:solidFill>
            </a:endParaRPr>
          </a:p>
          <a:p>
            <a:pPr marL="571500" lvl="1" indent="-342900"/>
            <a:r>
              <a:rPr lang="en-IE" b="1" dirty="0">
                <a:solidFill>
                  <a:schemeClr val="tx1"/>
                </a:solidFill>
                <a:latin typeface="Calibri" panose="020F0502020204030204" pitchFamily="34" charset="0"/>
                <a:cs typeface="Calibri" panose="020F0502020204030204" pitchFamily="34" charset="0"/>
              </a:rPr>
              <a:t>Validation &amp; Verification</a:t>
            </a:r>
            <a:r>
              <a:rPr lang="en-IE" dirty="0">
                <a:solidFill>
                  <a:schemeClr val="tx1"/>
                </a:solidFill>
                <a:latin typeface="Calibri" panose="020F0502020204030204" pitchFamily="34" charset="0"/>
                <a:cs typeface="Calibri" panose="020F0502020204030204" pitchFamily="34" charset="0"/>
              </a:rPr>
              <a:t>- how did you ensure the validity of results? </a:t>
            </a:r>
          </a:p>
          <a:p>
            <a:pPr marL="571500" lvl="1" indent="-342900"/>
            <a:r>
              <a:rPr lang="en-IE" b="1" dirty="0">
                <a:solidFill>
                  <a:schemeClr val="tx1"/>
                </a:solidFill>
                <a:latin typeface="Calibri" panose="020F0502020204030204" pitchFamily="34" charset="0"/>
                <a:cs typeface="Calibri" panose="020F0502020204030204" pitchFamily="34" charset="0"/>
              </a:rPr>
              <a:t>Results</a:t>
            </a:r>
            <a:r>
              <a:rPr lang="en-IE" dirty="0">
                <a:solidFill>
                  <a:schemeClr val="tx1"/>
                </a:solidFill>
                <a:latin typeface="Calibri" panose="020F0502020204030204" pitchFamily="34" charset="0"/>
                <a:cs typeface="Calibri" panose="020F0502020204030204" pitchFamily="34" charset="0"/>
              </a:rPr>
              <a:t> (this will help to address writing &amp; presentation of results)</a:t>
            </a:r>
          </a:p>
          <a:p>
            <a:pPr marL="342900" indent="-342900"/>
            <a:r>
              <a:rPr lang="en-IE" dirty="0">
                <a:solidFill>
                  <a:schemeClr val="tx1"/>
                </a:solidFill>
                <a:latin typeface="Calibri" panose="020F0502020204030204" pitchFamily="34" charset="0"/>
                <a:cs typeface="Calibri" panose="020F0502020204030204" pitchFamily="34" charset="0"/>
              </a:rPr>
              <a:t>Demonstration - </a:t>
            </a:r>
            <a:r>
              <a:rPr lang="en-IE" b="1" dirty="0">
                <a:solidFill>
                  <a:schemeClr val="tx1"/>
                </a:solidFill>
                <a:latin typeface="Calibri" panose="020F0502020204030204" pitchFamily="34" charset="0"/>
                <a:cs typeface="Calibri" panose="020F0502020204030204" pitchFamily="34" charset="0"/>
              </a:rPr>
              <a:t>3 minutes</a:t>
            </a:r>
          </a:p>
          <a:p>
            <a:pPr marL="571500" lvl="1" indent="-342900"/>
            <a:r>
              <a:rPr lang="en-IE" dirty="0">
                <a:solidFill>
                  <a:schemeClr val="tx1"/>
                </a:solidFill>
                <a:latin typeface="Calibri" panose="020F0502020204030204" pitchFamily="34" charset="0"/>
                <a:cs typeface="Calibri" panose="020F0502020204030204" pitchFamily="34" charset="0"/>
              </a:rPr>
              <a:t>demonstration of your website which outlines the approach you used throughout the project (this will help to address writing &amp; presentation of results, completeness and difficulty/skills)</a:t>
            </a:r>
          </a:p>
          <a:p>
            <a:pPr marL="342900" indent="-342900"/>
            <a:r>
              <a:rPr lang="en-IE" dirty="0">
                <a:solidFill>
                  <a:schemeClr val="tx1"/>
                </a:solidFill>
                <a:latin typeface="Calibri" panose="020F0502020204030204" pitchFamily="34" charset="0"/>
                <a:cs typeface="Calibri" panose="020F0502020204030204" pitchFamily="34" charset="0"/>
              </a:rPr>
              <a:t>Q &amp; A – </a:t>
            </a:r>
            <a:r>
              <a:rPr lang="en-IE" b="1" dirty="0">
                <a:solidFill>
                  <a:schemeClr val="tx1"/>
                </a:solidFill>
                <a:latin typeface="Calibri" panose="020F0502020204030204" pitchFamily="34" charset="0"/>
                <a:cs typeface="Calibri" panose="020F0502020204030204" pitchFamily="34" charset="0"/>
              </a:rPr>
              <a:t>10 minutes</a:t>
            </a:r>
            <a:r>
              <a:rPr lang="en-IE" dirty="0">
                <a:solidFill>
                  <a:schemeClr val="tx1"/>
                </a:solidFill>
                <a:latin typeface="Calibri" panose="020F0502020204030204" pitchFamily="34" charset="0"/>
                <a:cs typeface="Calibri" panose="020F0502020204030204" pitchFamily="34" charset="0"/>
              </a:rPr>
              <a:t>. </a:t>
            </a:r>
          </a:p>
          <a:p>
            <a:pPr marL="571500" lvl="1" indent="-342900"/>
            <a:r>
              <a:rPr lang="en-IE" dirty="0">
                <a:solidFill>
                  <a:schemeClr val="tx1"/>
                </a:solidFill>
                <a:latin typeface="Calibri" panose="020F0502020204030204" pitchFamily="34" charset="0"/>
                <a:cs typeface="Calibri" panose="020F0502020204030204" pitchFamily="34" charset="0"/>
              </a:rPr>
              <a:t>This will be a discussion of your work with the examiners where you will be asked to explain some aspects of your methodology and to answer examiners questions about it to demonstrate your own understanding of the analysis.</a:t>
            </a:r>
          </a:p>
          <a:p>
            <a:pPr marL="342900" indent="-342900"/>
            <a:endParaRPr lang="en-IE" dirty="0">
              <a:solidFill>
                <a:schemeClr val="tx1"/>
              </a:solidFill>
              <a:latin typeface="Calibri" panose="020F0502020204030204" pitchFamily="34" charset="0"/>
              <a:cs typeface="Calibri" panose="020F0502020204030204" pitchFamily="34" charset="0"/>
            </a:endParaRPr>
          </a:p>
          <a:p>
            <a:endParaRPr lang="en-IE" dirty="0"/>
          </a:p>
          <a:p>
            <a:endParaRPr lang="en-IE" dirty="0"/>
          </a:p>
        </p:txBody>
      </p:sp>
    </p:spTree>
    <p:extLst>
      <p:ext uri="{BB962C8B-B14F-4D97-AF65-F5344CB8AC3E}">
        <p14:creationId xmlns:p14="http://schemas.microsoft.com/office/powerpoint/2010/main" val="1620111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Presentation Structure</a:t>
            </a:r>
          </a:p>
        </p:txBody>
      </p:sp>
      <p:sp>
        <p:nvSpPr>
          <p:cNvPr id="3" name="Content Placeholder 2"/>
          <p:cNvSpPr>
            <a:spLocks noGrp="1"/>
          </p:cNvSpPr>
          <p:nvPr>
            <p:ph idx="1"/>
          </p:nvPr>
        </p:nvSpPr>
        <p:spPr>
          <a:xfrm>
            <a:off x="1173018" y="2214418"/>
            <a:ext cx="10283823" cy="4010892"/>
          </a:xfrm>
        </p:spPr>
        <p:txBody>
          <a:bodyPr>
            <a:normAutofit/>
          </a:bodyPr>
          <a:lstStyle/>
          <a:p>
            <a:pPr marL="342900" indent="-342900"/>
            <a:r>
              <a:rPr lang="en-IE" dirty="0">
                <a:solidFill>
                  <a:schemeClr val="tx1"/>
                </a:solidFill>
              </a:rPr>
              <a:t>In addition to all of the above, be mindful throughout of your presentation skills </a:t>
            </a:r>
          </a:p>
          <a:p>
            <a:pPr marL="342900" indent="-342900"/>
            <a:r>
              <a:rPr lang="en-IE" dirty="0">
                <a:solidFill>
                  <a:schemeClr val="tx1"/>
                </a:solidFill>
              </a:rPr>
              <a:t>Speak clearly, don’t rush – practice your presentation in advance to gain confidence and ensure you manage the timing </a:t>
            </a:r>
            <a:r>
              <a:rPr lang="en-IE" dirty="0" err="1">
                <a:solidFill>
                  <a:schemeClr val="tx1"/>
                </a:solidFill>
              </a:rPr>
              <a:t>correctlt</a:t>
            </a:r>
            <a:endParaRPr lang="en-IE" dirty="0">
              <a:solidFill>
                <a:schemeClr val="tx1"/>
              </a:solidFill>
            </a:endParaRPr>
          </a:p>
          <a:p>
            <a:pPr marL="342900" indent="-342900"/>
            <a:r>
              <a:rPr lang="en-IE" dirty="0">
                <a:solidFill>
                  <a:schemeClr val="tx1"/>
                </a:solidFill>
              </a:rPr>
              <a:t>Don’t put everything you plan to say on the slide, too much text distracts from what you actually say</a:t>
            </a:r>
          </a:p>
          <a:p>
            <a:pPr marL="342900" indent="-342900"/>
            <a:r>
              <a:rPr lang="en-IE" dirty="0">
                <a:solidFill>
                  <a:schemeClr val="tx1"/>
                </a:solidFill>
              </a:rPr>
              <a:t>Don’t say the same thing more than once</a:t>
            </a:r>
          </a:p>
          <a:p>
            <a:pPr marL="342900" indent="-342900"/>
            <a:r>
              <a:rPr lang="en-IE" dirty="0">
                <a:solidFill>
                  <a:schemeClr val="tx1"/>
                </a:solidFill>
              </a:rPr>
              <a:t>Ensure that your slides are error free and presented in a logical order – remember, you are telling a story so don’t jump back and forth </a:t>
            </a:r>
          </a:p>
          <a:p>
            <a:pPr marL="342900" indent="-342900"/>
            <a:endParaRPr lang="en-IE" dirty="0">
              <a:solidFill>
                <a:schemeClr val="tx1"/>
              </a:solidFill>
            </a:endParaRPr>
          </a:p>
          <a:p>
            <a:pPr marL="571500" lvl="1" indent="-342900"/>
            <a:endParaRPr lang="en-IE" dirty="0">
              <a:solidFill>
                <a:schemeClr val="tx1"/>
              </a:solidFill>
            </a:endParaRPr>
          </a:p>
          <a:p>
            <a:endParaRPr lang="en-IE" dirty="0"/>
          </a:p>
          <a:p>
            <a:endParaRPr lang="en-IE" dirty="0"/>
          </a:p>
        </p:txBody>
      </p:sp>
    </p:spTree>
    <p:extLst>
      <p:ext uri="{BB962C8B-B14F-4D97-AF65-F5344CB8AC3E}">
        <p14:creationId xmlns:p14="http://schemas.microsoft.com/office/powerpoint/2010/main" val="3638790402"/>
      </p:ext>
    </p:extLst>
  </p:cSld>
  <p:clrMapOvr>
    <a:masterClrMapping/>
  </p:clrMapOvr>
</p:sld>
</file>

<file path=ppt/theme/theme1.xml><?xml version="1.0" encoding="utf-8"?>
<a:theme xmlns:a="http://schemas.openxmlformats.org/drawingml/2006/main" name="Basis">
  <a:themeElements>
    <a:clrScheme name="Basis">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D9D01AC2-EE7D-4E49-99EE-8E62E4E7E8A7}"/>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eams_Channel_Section_Location xmlns="ac56161a-35a2-4bac-99b6-8739237dc4f6" xsi:nil="true"/>
    <Invited_Students xmlns="ac56161a-35a2-4bac-99b6-8739237dc4f6" xsi:nil="true"/>
    <Distribution_Groups xmlns="ac56161a-35a2-4bac-99b6-8739237dc4f6" xsi:nil="true"/>
    <Math_Settings xmlns="ac56161a-35a2-4bac-99b6-8739237dc4f6" xsi:nil="true"/>
    <FolderType xmlns="ac56161a-35a2-4bac-99b6-8739237dc4f6" xsi:nil="true"/>
    <Teachers xmlns="ac56161a-35a2-4bac-99b6-8739237dc4f6">
      <UserInfo>
        <DisplayName/>
        <AccountId xsi:nil="true"/>
        <AccountType/>
      </UserInfo>
    </Teachers>
    <Student_Groups xmlns="ac56161a-35a2-4bac-99b6-8739237dc4f6">
      <UserInfo>
        <DisplayName/>
        <AccountId xsi:nil="true"/>
        <AccountType/>
      </UserInfo>
    </Student_Groups>
    <Self_Registration_Enabled xmlns="ac56161a-35a2-4bac-99b6-8739237dc4f6" xsi:nil="true"/>
    <CultureName xmlns="ac56161a-35a2-4bac-99b6-8739237dc4f6" xsi:nil="true"/>
    <Students xmlns="ac56161a-35a2-4bac-99b6-8739237dc4f6">
      <UserInfo>
        <DisplayName/>
        <AccountId xsi:nil="true"/>
        <AccountType/>
      </UserInfo>
    </Students>
    <Is_Collaboration_Space_Locked xmlns="ac56161a-35a2-4bac-99b6-8739237dc4f6" xsi:nil="true"/>
    <LMS_Mappings xmlns="ac56161a-35a2-4bac-99b6-8739237dc4f6" xsi:nil="true"/>
    <IsNotebookLocked xmlns="ac56161a-35a2-4bac-99b6-8739237dc4f6" xsi:nil="true"/>
    <Owner xmlns="ac56161a-35a2-4bac-99b6-8739237dc4f6">
      <UserInfo>
        <DisplayName/>
        <AccountId xsi:nil="true"/>
        <AccountType/>
      </UserInfo>
    </Owner>
    <Has_Teacher_Only_SectionGroup xmlns="ac56161a-35a2-4bac-99b6-8739237dc4f6" xsi:nil="true"/>
    <DefaultSectionNames xmlns="ac56161a-35a2-4bac-99b6-8739237dc4f6" xsi:nil="true"/>
    <AppVersion xmlns="ac56161a-35a2-4bac-99b6-8739237dc4f6" xsi:nil="true"/>
    <TeamsChannelId xmlns="ac56161a-35a2-4bac-99b6-8739237dc4f6" xsi:nil="true"/>
    <Invited_Teachers xmlns="ac56161a-35a2-4bac-99b6-8739237dc4f6" xsi:nil="true"/>
    <NotebookType xmlns="ac56161a-35a2-4bac-99b6-8739237dc4f6" xsi:nil="true"/>
    <Templates xmlns="ac56161a-35a2-4bac-99b6-8739237dc4f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EE04D916D7611488AA759BAA9A37716" ma:contentTypeVersion="34" ma:contentTypeDescription="Create a new document." ma:contentTypeScope="" ma:versionID="da43fd5ae1f7ae53ffd28d894363bfb4">
  <xsd:schema xmlns:xsd="http://www.w3.org/2001/XMLSchema" xmlns:xs="http://www.w3.org/2001/XMLSchema" xmlns:p="http://schemas.microsoft.com/office/2006/metadata/properties" xmlns:ns3="05ee331b-510f-4173-a5cc-a06d55a316fd" xmlns:ns4="ac56161a-35a2-4bac-99b6-8739237dc4f6" targetNamespace="http://schemas.microsoft.com/office/2006/metadata/properties" ma:root="true" ma:fieldsID="0e753ad016b352eaafbd0268c41c2a23" ns3:_="" ns4:_="">
    <xsd:import namespace="05ee331b-510f-4173-a5cc-a06d55a316fd"/>
    <xsd:import namespace="ac56161a-35a2-4bac-99b6-8739237dc4f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GenerationTime" minOccurs="0"/>
                <xsd:element ref="ns4:MediaServiceEventHashCode" minOccurs="0"/>
                <xsd:element ref="ns4:MediaServiceDateTaken" minOccurs="0"/>
                <xsd:element ref="ns4:MediaServiceOCR" minOccurs="0"/>
                <xsd:element ref="ns4:MediaServiceLocation" minOccurs="0"/>
                <xsd:element ref="ns4:MediaServiceAutoKeyPoints" minOccurs="0"/>
                <xsd:element ref="ns4:MediaServiceKeyPoints" minOccurs="0"/>
                <xsd:element ref="ns4:NotebookType" minOccurs="0"/>
                <xsd:element ref="ns4:FolderType" minOccurs="0"/>
                <xsd:element ref="ns4:CultureName" minOccurs="0"/>
                <xsd:element ref="ns4:AppVersion" minOccurs="0"/>
                <xsd:element ref="ns4:TeamsChannelId" minOccurs="0"/>
                <xsd:element ref="ns4:Owner" minOccurs="0"/>
                <xsd:element ref="ns4:Math_Settings" minOccurs="0"/>
                <xsd:element ref="ns4:DefaultSectionNames" minOccurs="0"/>
                <xsd:element ref="ns4:Templates" minOccurs="0"/>
                <xsd:element ref="ns4:Teachers" minOccurs="0"/>
                <xsd:element ref="ns4:Students" minOccurs="0"/>
                <xsd:element ref="ns4:Student_Groups" minOccurs="0"/>
                <xsd:element ref="ns4:Distribution_Groups" minOccurs="0"/>
                <xsd:element ref="ns4:LMS_Mappings" minOccurs="0"/>
                <xsd:element ref="ns4:Invited_Teachers" minOccurs="0"/>
                <xsd:element ref="ns4:Invited_Students" minOccurs="0"/>
                <xsd:element ref="ns4:Self_Registration_Enabled" minOccurs="0"/>
                <xsd:element ref="ns4:Has_Teacher_Only_SectionGroup" minOccurs="0"/>
                <xsd:element ref="ns4:Is_Collaboration_Space_Locked" minOccurs="0"/>
                <xsd:element ref="ns4:IsNotebookLocked" minOccurs="0"/>
                <xsd:element ref="ns4: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ee331b-510f-4173-a5cc-a06d55a316fd"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c56161a-35a2-4bac-99b6-8739237dc4f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NotebookType" ma:index="21" nillable="true" ma:displayName="Notebook Type" ma:internalName="NotebookType">
      <xsd:simpleType>
        <xsd:restriction base="dms:Text"/>
      </xsd:simpleType>
    </xsd:element>
    <xsd:element name="FolderType" ma:index="22" nillable="true" ma:displayName="Folder Type" ma:internalName="FolderType">
      <xsd:simpleType>
        <xsd:restriction base="dms:Text"/>
      </xsd:simpleType>
    </xsd:element>
    <xsd:element name="CultureName" ma:index="23" nillable="true" ma:displayName="Culture Name" ma:internalName="CultureName">
      <xsd:simpleType>
        <xsd:restriction base="dms:Text"/>
      </xsd:simpleType>
    </xsd:element>
    <xsd:element name="AppVersion" ma:index="24" nillable="true" ma:displayName="App Version" ma:internalName="AppVersion">
      <xsd:simpleType>
        <xsd:restriction base="dms:Text"/>
      </xsd:simpleType>
    </xsd:element>
    <xsd:element name="TeamsChannelId" ma:index="25" nillable="true" ma:displayName="Teams Channel Id" ma:internalName="TeamsChannelId">
      <xsd:simpleType>
        <xsd:restriction base="dms:Text"/>
      </xsd:simpleType>
    </xsd:element>
    <xsd:element name="Owner" ma:index="26"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7" nillable="true" ma:displayName="Math Settings" ma:internalName="Math_Settings">
      <xsd:simpleType>
        <xsd:restriction base="dms:Text"/>
      </xsd:simpleType>
    </xsd:element>
    <xsd:element name="DefaultSectionNames" ma:index="28" nillable="true" ma:displayName="Default Section Names" ma:internalName="DefaultSectionNames">
      <xsd:simpleType>
        <xsd:restriction base="dms:Note">
          <xsd:maxLength value="255"/>
        </xsd:restriction>
      </xsd:simpleType>
    </xsd:element>
    <xsd:element name="Templates" ma:index="29" nillable="true" ma:displayName="Templates" ma:internalName="Templates">
      <xsd:simpleType>
        <xsd:restriction base="dms:Note">
          <xsd:maxLength value="255"/>
        </xsd:restriction>
      </xsd:simpleType>
    </xsd:element>
    <xsd:element name="Teachers" ma:index="30"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31"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2"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3" nillable="true" ma:displayName="Distribution Groups" ma:internalName="Distribution_Groups">
      <xsd:simpleType>
        <xsd:restriction base="dms:Note">
          <xsd:maxLength value="255"/>
        </xsd:restriction>
      </xsd:simpleType>
    </xsd:element>
    <xsd:element name="LMS_Mappings" ma:index="34" nillable="true" ma:displayName="LMS Mappings" ma:internalName="LMS_Mappings">
      <xsd:simpleType>
        <xsd:restriction base="dms:Note">
          <xsd:maxLength value="255"/>
        </xsd:restriction>
      </xsd:simpleType>
    </xsd:element>
    <xsd:element name="Invited_Teachers" ma:index="35" nillable="true" ma:displayName="Invited Teachers" ma:internalName="Invited_Teachers">
      <xsd:simpleType>
        <xsd:restriction base="dms:Note">
          <xsd:maxLength value="255"/>
        </xsd:restriction>
      </xsd:simpleType>
    </xsd:element>
    <xsd:element name="Invited_Students" ma:index="36" nillable="true" ma:displayName="Invited Students" ma:internalName="Invited_Students">
      <xsd:simpleType>
        <xsd:restriction base="dms:Note">
          <xsd:maxLength value="255"/>
        </xsd:restriction>
      </xsd:simpleType>
    </xsd:element>
    <xsd:element name="Self_Registration_Enabled" ma:index="37" nillable="true" ma:displayName="Self Registration Enabled" ma:internalName="Self_Registration_Enabled">
      <xsd:simpleType>
        <xsd:restriction base="dms:Boolean"/>
      </xsd:simpleType>
    </xsd:element>
    <xsd:element name="Has_Teacher_Only_SectionGroup" ma:index="38" nillable="true" ma:displayName="Has Teacher Only SectionGroup" ma:internalName="Has_Teacher_Only_SectionGroup">
      <xsd:simpleType>
        <xsd:restriction base="dms:Boolean"/>
      </xsd:simpleType>
    </xsd:element>
    <xsd:element name="Is_Collaboration_Space_Locked" ma:index="39" nillable="true" ma:displayName="Is Collaboration Space Locked" ma:internalName="Is_Collaboration_Space_Locked">
      <xsd:simpleType>
        <xsd:restriction base="dms:Boolean"/>
      </xsd:simpleType>
    </xsd:element>
    <xsd:element name="IsNotebookLocked" ma:index="40" nillable="true" ma:displayName="Is Notebook Locked" ma:internalName="IsNotebookLocked">
      <xsd:simpleType>
        <xsd:restriction base="dms:Boolean"/>
      </xsd:simpleType>
    </xsd:element>
    <xsd:element name="Teams_Channel_Section_Location" ma:index="41" nillable="true" ma:displayName="Teams Channel Section Location" ma:internalName="Teams_Channel_Section_Locat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5BE32E9-974C-4ECA-BEA5-73186AFF9799}">
  <ds:schemaRefs>
    <ds:schemaRef ds:uri="http://schemas.microsoft.com/sharepoint/v3/contenttype/forms"/>
  </ds:schemaRefs>
</ds:datastoreItem>
</file>

<file path=customXml/itemProps2.xml><?xml version="1.0" encoding="utf-8"?>
<ds:datastoreItem xmlns:ds="http://schemas.openxmlformats.org/officeDocument/2006/customXml" ds:itemID="{EC66A988-581A-49AB-9C0A-D2D9CF742C0B}">
  <ds:schemaRefs>
    <ds:schemaRef ds:uri="http://schemas.microsoft.com/office/infopath/2007/PartnerControls"/>
    <ds:schemaRef ds:uri="http://schemas.openxmlformats.org/package/2006/metadata/core-properties"/>
    <ds:schemaRef ds:uri="http://schemas.microsoft.com/office/2006/metadata/properties"/>
    <ds:schemaRef ds:uri="ac56161a-35a2-4bac-99b6-8739237dc4f6"/>
    <ds:schemaRef ds:uri="http://purl.org/dc/dcmitype/"/>
    <ds:schemaRef ds:uri="http://schemas.microsoft.com/office/2006/documentManagement/types"/>
    <ds:schemaRef ds:uri="http://purl.org/dc/elements/1.1/"/>
    <ds:schemaRef ds:uri="05ee331b-510f-4173-a5cc-a06d55a316fd"/>
    <ds:schemaRef ds:uri="http://www.w3.org/XML/1998/namespace"/>
    <ds:schemaRef ds:uri="http://purl.org/dc/terms/"/>
  </ds:schemaRefs>
</ds:datastoreItem>
</file>

<file path=customXml/itemProps3.xml><?xml version="1.0" encoding="utf-8"?>
<ds:datastoreItem xmlns:ds="http://schemas.openxmlformats.org/officeDocument/2006/customXml" ds:itemID="{E62EE3A7-697E-4501-9BA8-15DBF6D397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5ee331b-510f-4173-a5cc-a06d55a316fd"/>
    <ds:schemaRef ds:uri="ac56161a-35a2-4bac-99b6-8739237dc4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TM03457444[[fn=Basis]]</Template>
  <TotalTime>1905</TotalTime>
  <Words>1105</Words>
  <Application>Microsoft Office PowerPoint</Application>
  <PresentationFormat>Widescreen</PresentationFormat>
  <Paragraphs>78</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Calibri</vt:lpstr>
      <vt:lpstr>Corbel</vt:lpstr>
      <vt:lpstr>Basis</vt:lpstr>
      <vt:lpstr>4th Year Project</vt:lpstr>
      <vt:lpstr>Agenda</vt:lpstr>
      <vt:lpstr>Showcase – What is your Role? Before May 27th :</vt:lpstr>
      <vt:lpstr>Week of Showcase - Getting noticed on Social Media</vt:lpstr>
      <vt:lpstr>Showcase Poster</vt:lpstr>
      <vt:lpstr>Presentation Structure - BSHC</vt:lpstr>
      <vt:lpstr>Presentation Structure - DA</vt:lpstr>
      <vt:lpstr>Presentation Structure - BA</vt:lpstr>
      <vt:lpstr>Presentation Structure</vt:lpstr>
    </vt:vector>
  </TitlesOfParts>
  <Company>National College of Ireland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4th Year Project</dc:title>
  <dc:creator>Frances Sheridan</dc:creator>
  <cp:lastModifiedBy>Frances Sheridan</cp:lastModifiedBy>
  <cp:revision>57</cp:revision>
  <dcterms:created xsi:type="dcterms:W3CDTF">2020-05-07T10:05:54Z</dcterms:created>
  <dcterms:modified xsi:type="dcterms:W3CDTF">2026-03-13T08:36:53Z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0x0101003EE04D916D7611488AA759BAA9A37716</vt:lpwstr>
  </property>
</Properties>
</file>